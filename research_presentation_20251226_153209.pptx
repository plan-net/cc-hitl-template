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4630400" cy="8229600"/>
  <p:notesSz cx="8229600" cy="14630400"/>
  <p:embeddedFontLst>
    <p:embeddedFont>
      <p:font typeface="Inter"/>
      <p:regular r:id="rId19"/>
    </p:embeddedFont>
    <p:embeddedFont>
      <p:font typeface="Inter"/>
      <p:regular r:id="rId20"/>
    </p:embeddedFont>
    <p:embeddedFont>
      <p:font typeface="Inter"/>
      <p:regular r:id="rId21"/>
    </p:embeddedFont>
    <p:embeddedFont>
      <p:font typeface="Inter"/>
      <p:regular r:id="rId22"/>
    </p:embeddedFont>
    <p:embeddedFont>
      <p:font typeface="Inter"/>
      <p:regular r:id="rId23"/>
    </p:embeddedFont>
    <p:embeddedFont>
      <p:font typeface="Inter"/>
      <p:regular r:id="rId24"/>
    </p:embeddedFont>
    <p:embeddedFont>
      <p:font typeface="Inter"/>
      <p:regular r:id="rId25"/>
    </p:embeddedFont>
    <p:embeddedFont>
      <p:font typeface="Inter"/>
      <p:regular r:id="rId26"/>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font" Target="fonts/font1.fntdata"/><Relationship Id="rId20" Type="http://schemas.openxmlformats.org/officeDocument/2006/relationships/font" Target="fonts/font2.fntdata"/><Relationship Id="rId21" Type="http://schemas.openxmlformats.org/officeDocument/2006/relationships/font" Target="fonts/font3.fntdata"/><Relationship Id="rId22" Type="http://schemas.openxmlformats.org/officeDocument/2006/relationships/font" Target="fonts/font4.fntdata"/><Relationship Id="rId23" Type="http://schemas.openxmlformats.org/officeDocument/2006/relationships/font" Target="fonts/font5.fntdata"/><Relationship Id="rId24" Type="http://schemas.openxmlformats.org/officeDocument/2006/relationships/font" Target="fonts/font6.fntdata"/><Relationship Id="rId25" Type="http://schemas.openxmlformats.org/officeDocument/2006/relationships/font" Target="fonts/font7.fntdata"/><Relationship Id="rId26"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7.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8.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9.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0.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image" Target="../media/image-10-3.png"/><Relationship Id="rId4" Type="http://schemas.openxmlformats.org/officeDocument/2006/relationships/image" Target="../media/image-10-4.svg"/><Relationship Id="rId5" Type="http://schemas.openxmlformats.org/officeDocument/2006/relationships/image" Target="../media/image-10-5.png"/><Relationship Id="rId6" Type="http://schemas.openxmlformats.org/officeDocument/2006/relationships/image" Target="../media/image-10-6.svg"/><Relationship Id="rId7" Type="http://schemas.openxmlformats.org/officeDocument/2006/relationships/slideLayout" Target="../slideLayouts/slideLayout1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3.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2872978"/>
            <a:ext cx="7556421" cy="1417558"/>
          </a:xfrm>
          <a:prstGeom prst="rect">
            <a:avLst/>
          </a:prstGeom>
          <a:noFill/>
          <a:ln/>
        </p:spPr>
        <p:txBody>
          <a:bodyPr wrap="square" lIns="0" tIns="0" rIns="0" bIns="0" rtlCol="0" anchor="t"/>
          <a:lstStyle/>
          <a:p>
            <a:pPr algn="l" indent="0" marL="0">
              <a:lnSpc>
                <a:spcPts val="5550"/>
              </a:lnSpc>
              <a:buNone/>
            </a:pPr>
            <a:r>
              <a:rPr lang="en-US" sz="4450" b="1" dirty="0">
                <a:solidFill>
                  <a:srgbClr val="000000"/>
                </a:solidFill>
                <a:latin typeface="Inter Bold" pitchFamily="34" charset="0"/>
                <a:ea typeface="Inter Bold" pitchFamily="34" charset="-122"/>
                <a:cs typeface="Inter Bold" pitchFamily="34" charset="-120"/>
              </a:rPr>
              <a:t>Why Women's Clothing is More Expensive</a:t>
            </a:r>
            <a:endParaRPr lang="en-US" sz="4450" dirty="0"/>
          </a:p>
        </p:txBody>
      </p:sp>
      <p:sp>
        <p:nvSpPr>
          <p:cNvPr id="4" name="Text 1"/>
          <p:cNvSpPr/>
          <p:nvPr/>
        </p:nvSpPr>
        <p:spPr>
          <a:xfrm>
            <a:off x="6280190" y="4630698"/>
            <a:ext cx="7556421" cy="725805"/>
          </a:xfrm>
          <a:prstGeom prst="rect">
            <a:avLst/>
          </a:prstGeom>
          <a:noFill/>
          <a:ln/>
        </p:spPr>
        <p:txBody>
          <a:bodyPr wrap="squar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A Comprehensive Analysis of Economic Factors, Market Dynamics, and Pricing Strategies</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2302073"/>
            <a:ext cx="3969425" cy="496133"/>
          </a:xfrm>
          <a:prstGeom prst="rect">
            <a:avLst/>
          </a:prstGeom>
          <a:noFill/>
          <a:ln/>
        </p:spPr>
        <p:txBody>
          <a:bodyPr wrap="none" lIns="0" tIns="0" rIns="0" bIns="0" rtlCol="0" anchor="t"/>
          <a:lstStyle/>
          <a:p>
            <a:pPr algn="l" indent="0" marL="0">
              <a:lnSpc>
                <a:spcPts val="3900"/>
              </a:lnSpc>
              <a:buNone/>
            </a:pPr>
            <a:r>
              <a:rPr lang="en-US" sz="3100" b="1" dirty="0">
                <a:solidFill>
                  <a:srgbClr val="000000"/>
                </a:solidFill>
                <a:latin typeface="Inter Bold" pitchFamily="34" charset="0"/>
                <a:ea typeface="Inter Bold" pitchFamily="34" charset="-122"/>
                <a:cs typeface="Inter Bold" pitchFamily="34" charset="-120"/>
              </a:rPr>
              <a:t>Executive Summary</a:t>
            </a:r>
            <a:endParaRPr lang="en-US" sz="3100" dirty="0"/>
          </a:p>
        </p:txBody>
      </p:sp>
      <p:sp>
        <p:nvSpPr>
          <p:cNvPr id="3" name="Text 1"/>
          <p:cNvSpPr/>
          <p:nvPr/>
        </p:nvSpPr>
        <p:spPr>
          <a:xfrm>
            <a:off x="793790" y="3115747"/>
            <a:ext cx="13042821" cy="508159"/>
          </a:xfrm>
          <a:prstGeom prst="rect">
            <a:avLst/>
          </a:prstGeom>
          <a:noFill/>
          <a:ln/>
        </p:spPr>
        <p:txBody>
          <a:bodyPr wrap="square" lIns="0" tIns="0" rIns="0" bIns="0" rtlCol="0" anchor="t"/>
          <a:lstStyle/>
          <a:p>
            <a:pPr algn="l" indent="0" marL="0">
              <a:lnSpc>
                <a:spcPts val="2000"/>
              </a:lnSpc>
              <a:buNone/>
            </a:pPr>
            <a:r>
              <a:rPr lang="en-US" sz="1250" dirty="0">
                <a:solidFill>
                  <a:srgbClr val="272525"/>
                </a:solidFill>
                <a:latin typeface="Inter" pitchFamily="34" charset="0"/>
                <a:ea typeface="Inter" pitchFamily="34" charset="-122"/>
                <a:cs typeface="Inter" pitchFamily="34" charset="-120"/>
              </a:rPr>
              <a:t>Women's clothing consistently commands higher prices than men's apparel across nearly all categories. This pricing disparity stems from a complex interplay of economic principles, market forces, and strategic business decisions rather than simple discrimination.</a:t>
            </a:r>
            <a:endParaRPr lang="en-US" sz="1250" dirty="0"/>
          </a:p>
        </p:txBody>
      </p:sp>
      <p:sp>
        <p:nvSpPr>
          <p:cNvPr id="4" name="Shape 2"/>
          <p:cNvSpPr/>
          <p:nvPr/>
        </p:nvSpPr>
        <p:spPr>
          <a:xfrm>
            <a:off x="793790" y="3802499"/>
            <a:ext cx="4241721" cy="1438156"/>
          </a:xfrm>
          <a:prstGeom prst="roundRect">
            <a:avLst>
              <a:gd name="adj" fmla="val 4637"/>
            </a:avLst>
          </a:prstGeom>
          <a:solidFill>
            <a:srgbClr val="DADBF1"/>
          </a:solidFill>
          <a:ln w="7620">
            <a:solidFill>
              <a:srgbClr val="C0C1D7"/>
            </a:solidFill>
            <a:prstDash val="solid"/>
          </a:ln>
        </p:spPr>
      </p:sp>
      <p:sp>
        <p:nvSpPr>
          <p:cNvPr id="5" name="Text 3"/>
          <p:cNvSpPr/>
          <p:nvPr/>
        </p:nvSpPr>
        <p:spPr>
          <a:xfrm>
            <a:off x="960120" y="3968829"/>
            <a:ext cx="1984653" cy="248007"/>
          </a:xfrm>
          <a:prstGeom prst="rect">
            <a:avLst/>
          </a:prstGeom>
          <a:noFill/>
          <a:ln/>
        </p:spPr>
        <p:txBody>
          <a:bodyPr wrap="none" lIns="0" tIns="0" rIns="0" bIns="0" rtlCol="0" anchor="t"/>
          <a:lstStyle/>
          <a:p>
            <a:pPr algn="l" indent="0" marL="0">
              <a:lnSpc>
                <a:spcPts val="1950"/>
              </a:lnSpc>
              <a:buNone/>
            </a:pPr>
            <a:r>
              <a:rPr lang="en-US" sz="1550" b="1" dirty="0">
                <a:solidFill>
                  <a:srgbClr val="272525"/>
                </a:solidFill>
                <a:latin typeface="Inter Bold" pitchFamily="34" charset="0"/>
                <a:ea typeface="Inter Bold" pitchFamily="34" charset="-122"/>
                <a:cs typeface="Inter Bold" pitchFamily="34" charset="-120"/>
              </a:rPr>
              <a:t>Economic Drivers</a:t>
            </a:r>
            <a:endParaRPr lang="en-US" sz="1550" dirty="0"/>
          </a:p>
        </p:txBody>
      </p:sp>
      <p:sp>
        <p:nvSpPr>
          <p:cNvPr id="6" name="Text 4"/>
          <p:cNvSpPr/>
          <p:nvPr/>
        </p:nvSpPr>
        <p:spPr>
          <a:xfrm>
            <a:off x="960120" y="4312087"/>
            <a:ext cx="3909060" cy="762238"/>
          </a:xfrm>
          <a:prstGeom prst="rect">
            <a:avLst/>
          </a:prstGeom>
          <a:noFill/>
          <a:ln/>
        </p:spPr>
        <p:txBody>
          <a:bodyPr wrap="square" lIns="0" tIns="0" rIns="0" bIns="0" rtlCol="0" anchor="t"/>
          <a:lstStyle/>
          <a:p>
            <a:pPr algn="l" indent="0" marL="0">
              <a:lnSpc>
                <a:spcPts val="2000"/>
              </a:lnSpc>
              <a:buNone/>
            </a:pPr>
            <a:r>
              <a:rPr lang="en-US" sz="1250" dirty="0">
                <a:solidFill>
                  <a:srgbClr val="272525"/>
                </a:solidFill>
                <a:latin typeface="Inter" pitchFamily="34" charset="0"/>
                <a:ea typeface="Inter" pitchFamily="34" charset="-122"/>
                <a:cs typeface="Inter" pitchFamily="34" charset="-120"/>
              </a:rPr>
              <a:t>Higher willingness to pay, complex designs, and varied materials increase production costs and justify premium pricing</a:t>
            </a:r>
            <a:endParaRPr lang="en-US" sz="1250" dirty="0"/>
          </a:p>
        </p:txBody>
      </p:sp>
      <p:sp>
        <p:nvSpPr>
          <p:cNvPr id="7" name="Shape 5"/>
          <p:cNvSpPr/>
          <p:nvPr/>
        </p:nvSpPr>
        <p:spPr>
          <a:xfrm>
            <a:off x="5194221" y="3802499"/>
            <a:ext cx="4241840" cy="1438156"/>
          </a:xfrm>
          <a:prstGeom prst="roundRect">
            <a:avLst>
              <a:gd name="adj" fmla="val 4637"/>
            </a:avLst>
          </a:prstGeom>
          <a:solidFill>
            <a:srgbClr val="DADBF1"/>
          </a:solidFill>
          <a:ln w="7620">
            <a:solidFill>
              <a:srgbClr val="C0C1D7"/>
            </a:solidFill>
            <a:prstDash val="solid"/>
          </a:ln>
        </p:spPr>
      </p:sp>
      <p:sp>
        <p:nvSpPr>
          <p:cNvPr id="8" name="Text 6"/>
          <p:cNvSpPr/>
          <p:nvPr/>
        </p:nvSpPr>
        <p:spPr>
          <a:xfrm>
            <a:off x="5360551" y="3968829"/>
            <a:ext cx="1984653" cy="248007"/>
          </a:xfrm>
          <a:prstGeom prst="rect">
            <a:avLst/>
          </a:prstGeom>
          <a:noFill/>
          <a:ln/>
        </p:spPr>
        <p:txBody>
          <a:bodyPr wrap="none" lIns="0" tIns="0" rIns="0" bIns="0" rtlCol="0" anchor="t"/>
          <a:lstStyle/>
          <a:p>
            <a:pPr algn="l" indent="0" marL="0">
              <a:lnSpc>
                <a:spcPts val="1950"/>
              </a:lnSpc>
              <a:buNone/>
            </a:pPr>
            <a:r>
              <a:rPr lang="en-US" sz="1550" b="1" dirty="0">
                <a:solidFill>
                  <a:srgbClr val="272525"/>
                </a:solidFill>
                <a:latin typeface="Inter Bold" pitchFamily="34" charset="0"/>
                <a:ea typeface="Inter Bold" pitchFamily="34" charset="-122"/>
                <a:cs typeface="Inter Bold" pitchFamily="34" charset="-120"/>
              </a:rPr>
              <a:t>Market Dynamics</a:t>
            </a:r>
            <a:endParaRPr lang="en-US" sz="1550" dirty="0"/>
          </a:p>
        </p:txBody>
      </p:sp>
      <p:sp>
        <p:nvSpPr>
          <p:cNvPr id="9" name="Text 7"/>
          <p:cNvSpPr/>
          <p:nvPr/>
        </p:nvSpPr>
        <p:spPr>
          <a:xfrm>
            <a:off x="5360551" y="4312087"/>
            <a:ext cx="3909179" cy="762238"/>
          </a:xfrm>
          <a:prstGeom prst="rect">
            <a:avLst/>
          </a:prstGeom>
          <a:noFill/>
          <a:ln/>
        </p:spPr>
        <p:txBody>
          <a:bodyPr wrap="square" lIns="0" tIns="0" rIns="0" bIns="0" rtlCol="0" anchor="t"/>
          <a:lstStyle/>
          <a:p>
            <a:pPr algn="l" indent="0" marL="0">
              <a:lnSpc>
                <a:spcPts val="2000"/>
              </a:lnSpc>
              <a:buNone/>
            </a:pPr>
            <a:r>
              <a:rPr lang="en-US" sz="1250" dirty="0">
                <a:solidFill>
                  <a:srgbClr val="272525"/>
                </a:solidFill>
                <a:latin typeface="Inter" pitchFamily="34" charset="0"/>
                <a:ea typeface="Inter" pitchFamily="34" charset="-122"/>
                <a:cs typeface="Inter" pitchFamily="34" charset="-120"/>
              </a:rPr>
              <a:t>Seasonality, luxury positioning, and rapid trend cycles create opportunities for strategic price differentiation</a:t>
            </a:r>
            <a:endParaRPr lang="en-US" sz="1250" dirty="0"/>
          </a:p>
        </p:txBody>
      </p:sp>
      <p:sp>
        <p:nvSpPr>
          <p:cNvPr id="10" name="Shape 8"/>
          <p:cNvSpPr/>
          <p:nvPr/>
        </p:nvSpPr>
        <p:spPr>
          <a:xfrm>
            <a:off x="9594771" y="3802499"/>
            <a:ext cx="4241721" cy="1438156"/>
          </a:xfrm>
          <a:prstGeom prst="roundRect">
            <a:avLst>
              <a:gd name="adj" fmla="val 4637"/>
            </a:avLst>
          </a:prstGeom>
          <a:solidFill>
            <a:srgbClr val="DADBF1"/>
          </a:solidFill>
          <a:ln w="7620">
            <a:solidFill>
              <a:srgbClr val="C0C1D7"/>
            </a:solidFill>
            <a:prstDash val="solid"/>
          </a:ln>
        </p:spPr>
      </p:sp>
      <p:sp>
        <p:nvSpPr>
          <p:cNvPr id="11" name="Text 9"/>
          <p:cNvSpPr/>
          <p:nvPr/>
        </p:nvSpPr>
        <p:spPr>
          <a:xfrm>
            <a:off x="9761101" y="3968829"/>
            <a:ext cx="1984653" cy="248007"/>
          </a:xfrm>
          <a:prstGeom prst="rect">
            <a:avLst/>
          </a:prstGeom>
          <a:noFill/>
          <a:ln/>
        </p:spPr>
        <p:txBody>
          <a:bodyPr wrap="none" lIns="0" tIns="0" rIns="0" bIns="0" rtlCol="0" anchor="t"/>
          <a:lstStyle/>
          <a:p>
            <a:pPr algn="l" indent="0" marL="0">
              <a:lnSpc>
                <a:spcPts val="1950"/>
              </a:lnSpc>
              <a:buNone/>
            </a:pPr>
            <a:r>
              <a:rPr lang="en-US" sz="1550" b="1" dirty="0">
                <a:solidFill>
                  <a:srgbClr val="272525"/>
                </a:solidFill>
                <a:latin typeface="Inter Bold" pitchFamily="34" charset="0"/>
                <a:ea typeface="Inter Bold" pitchFamily="34" charset="-122"/>
                <a:cs typeface="Inter Bold" pitchFamily="34" charset="-120"/>
              </a:rPr>
              <a:t>Marketing Impact</a:t>
            </a:r>
            <a:endParaRPr lang="en-US" sz="1550" dirty="0"/>
          </a:p>
        </p:txBody>
      </p:sp>
      <p:sp>
        <p:nvSpPr>
          <p:cNvPr id="12" name="Text 10"/>
          <p:cNvSpPr/>
          <p:nvPr/>
        </p:nvSpPr>
        <p:spPr>
          <a:xfrm>
            <a:off x="9761101" y="4312087"/>
            <a:ext cx="3909060" cy="762238"/>
          </a:xfrm>
          <a:prstGeom prst="rect">
            <a:avLst/>
          </a:prstGeom>
          <a:noFill/>
          <a:ln/>
        </p:spPr>
        <p:txBody>
          <a:bodyPr wrap="square" lIns="0" tIns="0" rIns="0" bIns="0" rtlCol="0" anchor="t"/>
          <a:lstStyle/>
          <a:p>
            <a:pPr algn="l" indent="0" marL="0">
              <a:lnSpc>
                <a:spcPts val="2000"/>
              </a:lnSpc>
              <a:buNone/>
            </a:pPr>
            <a:r>
              <a:rPr lang="en-US" sz="1250" dirty="0">
                <a:solidFill>
                  <a:srgbClr val="272525"/>
                </a:solidFill>
                <a:latin typeface="Inter" pitchFamily="34" charset="0"/>
                <a:ea typeface="Inter" pitchFamily="34" charset="-122"/>
                <a:cs typeface="Inter" pitchFamily="34" charset="-120"/>
              </a:rPr>
              <a:t>Targeted campaigns emphasizing exclusivity, fashion innovation, and brand prestige support higher price points</a:t>
            </a:r>
            <a:endParaRPr lang="en-US" sz="1250" dirty="0"/>
          </a:p>
        </p:txBody>
      </p:sp>
      <p:sp>
        <p:nvSpPr>
          <p:cNvPr id="13" name="Text 11"/>
          <p:cNvSpPr/>
          <p:nvPr/>
        </p:nvSpPr>
        <p:spPr>
          <a:xfrm>
            <a:off x="793790" y="5419249"/>
            <a:ext cx="13042821" cy="508159"/>
          </a:xfrm>
          <a:prstGeom prst="rect">
            <a:avLst/>
          </a:prstGeom>
          <a:noFill/>
          <a:ln/>
        </p:spPr>
        <p:txBody>
          <a:bodyPr wrap="square" lIns="0" tIns="0" rIns="0" bIns="0" rtlCol="0" anchor="t"/>
          <a:lstStyle/>
          <a:p>
            <a:pPr algn="l" indent="0" marL="0">
              <a:lnSpc>
                <a:spcPts val="2000"/>
              </a:lnSpc>
              <a:buNone/>
            </a:pPr>
            <a:r>
              <a:rPr lang="en-US" sz="1250" dirty="0">
                <a:solidFill>
                  <a:srgbClr val="272525"/>
                </a:solidFill>
                <a:latin typeface="Inter" pitchFamily="34" charset="0"/>
                <a:ea typeface="Inter" pitchFamily="34" charset="-122"/>
                <a:cs typeface="Inter" pitchFamily="34" charset="-120"/>
              </a:rPr>
              <a:t>This analysis examines the multifaceted reasons behind women's fashion pricing, drawing on economic research, industry data, and market trends to provide a comprehensive understanding of this persistent phenomenon.</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546979"/>
            <a:ext cx="9353550" cy="460772"/>
          </a:xfrm>
          <a:prstGeom prst="rect">
            <a:avLst/>
          </a:prstGeom>
          <a:noFill/>
          <a:ln/>
        </p:spPr>
        <p:txBody>
          <a:bodyPr wrap="none" lIns="0" tIns="0" rIns="0" bIns="0" rtlCol="0" anchor="t"/>
          <a:lstStyle/>
          <a:p>
            <a:pPr algn="l" indent="0" marL="0">
              <a:lnSpc>
                <a:spcPts val="3600"/>
              </a:lnSpc>
              <a:buNone/>
            </a:pPr>
            <a:r>
              <a:rPr lang="en-US" sz="2900" b="1" dirty="0">
                <a:solidFill>
                  <a:srgbClr val="000000"/>
                </a:solidFill>
                <a:latin typeface="Inter Bold" pitchFamily="34" charset="0"/>
                <a:ea typeface="Inter Bold" pitchFamily="34" charset="-122"/>
                <a:cs typeface="Inter Bold" pitchFamily="34" charset="-120"/>
              </a:rPr>
              <a:t>Demand Elasticity and Consumer Willingness to Pay</a:t>
            </a:r>
            <a:endParaRPr lang="en-US" sz="2900" dirty="0"/>
          </a:p>
        </p:txBody>
      </p:sp>
      <p:sp>
        <p:nvSpPr>
          <p:cNvPr id="3" name="Text 1"/>
          <p:cNvSpPr/>
          <p:nvPr/>
        </p:nvSpPr>
        <p:spPr>
          <a:xfrm>
            <a:off x="793790" y="2361486"/>
            <a:ext cx="6341626" cy="707231"/>
          </a:xfrm>
          <a:prstGeom prst="rect">
            <a:avLst/>
          </a:prstGeom>
          <a:noFill/>
          <a:ln/>
        </p:spPr>
        <p:txBody>
          <a:bodyPr wrap="square" lIns="0" tIns="0" rIns="0" bIns="0" rtlCol="0" anchor="t"/>
          <a:lstStyle/>
          <a:p>
            <a:pPr algn="l" indent="0" marL="0">
              <a:lnSpc>
                <a:spcPts val="1850"/>
              </a:lnSpc>
              <a:buNone/>
            </a:pPr>
            <a:r>
              <a:rPr lang="en-US" sz="1150" dirty="0">
                <a:solidFill>
                  <a:srgbClr val="272525"/>
                </a:solidFill>
                <a:latin typeface="Inter" pitchFamily="34" charset="0"/>
                <a:ea typeface="Inter" pitchFamily="34" charset="-122"/>
                <a:cs typeface="Inter" pitchFamily="34" charset="-120"/>
              </a:rPr>
              <a:t>Women's clothing markets demonstrate significantly higher variance in willingness to pay compared to men's apparel. This economic principle allows retailers to implement sophisticated pricing strategies that capture consumer surplus more effectively.</a:t>
            </a:r>
            <a:endParaRPr lang="en-US" sz="1150" dirty="0"/>
          </a:p>
        </p:txBody>
      </p:sp>
      <p:sp>
        <p:nvSpPr>
          <p:cNvPr id="4" name="Text 2"/>
          <p:cNvSpPr/>
          <p:nvPr/>
        </p:nvSpPr>
        <p:spPr>
          <a:xfrm>
            <a:off x="793790" y="3201353"/>
            <a:ext cx="6341626" cy="942975"/>
          </a:xfrm>
          <a:prstGeom prst="rect">
            <a:avLst/>
          </a:prstGeom>
          <a:noFill/>
          <a:ln/>
        </p:spPr>
        <p:txBody>
          <a:bodyPr wrap="square" lIns="0" tIns="0" rIns="0" bIns="0" rtlCol="0" anchor="t"/>
          <a:lstStyle/>
          <a:p>
            <a:pPr algn="l" indent="0" marL="0">
              <a:lnSpc>
                <a:spcPts val="1850"/>
              </a:lnSpc>
              <a:buNone/>
            </a:pPr>
            <a:r>
              <a:rPr lang="en-US" sz="1150" dirty="0">
                <a:solidFill>
                  <a:srgbClr val="272525"/>
                </a:solidFill>
                <a:latin typeface="Inter" pitchFamily="34" charset="0"/>
                <a:ea typeface="Inter" pitchFamily="34" charset="-122"/>
                <a:cs typeface="Inter" pitchFamily="34" charset="-120"/>
              </a:rPr>
              <a:t>Firms capitalize on this variance by setting higher initial prices and dynamically adjusting based on real-time sales data and inventory levels. The result is a pricing structure that reflects not just production costs, but the perceived value consumers place on style, design complexity, and quality.</a:t>
            </a:r>
            <a:endParaRPr lang="en-US" sz="1150" dirty="0"/>
          </a:p>
        </p:txBody>
      </p:sp>
      <p:sp>
        <p:nvSpPr>
          <p:cNvPr id="5" name="Text 3"/>
          <p:cNvSpPr/>
          <p:nvPr/>
        </p:nvSpPr>
        <p:spPr>
          <a:xfrm>
            <a:off x="793790" y="4276963"/>
            <a:ext cx="6341626" cy="471488"/>
          </a:xfrm>
          <a:prstGeom prst="rect">
            <a:avLst/>
          </a:prstGeom>
          <a:noFill/>
          <a:ln/>
        </p:spPr>
        <p:txBody>
          <a:bodyPr wrap="square" lIns="0" tIns="0" rIns="0" bIns="0" rtlCol="0" anchor="t"/>
          <a:lstStyle/>
          <a:p>
            <a:pPr algn="l" indent="0" marL="0">
              <a:lnSpc>
                <a:spcPts val="1850"/>
              </a:lnSpc>
              <a:buNone/>
            </a:pPr>
            <a:r>
              <a:rPr lang="en-US" sz="1150" dirty="0">
                <a:solidFill>
                  <a:srgbClr val="272525"/>
                </a:solidFill>
                <a:latin typeface="Inter" pitchFamily="34" charset="0"/>
                <a:ea typeface="Inter" pitchFamily="34" charset="-122"/>
                <a:cs typeface="Inter" pitchFamily="34" charset="-120"/>
              </a:rPr>
              <a:t>Research shows women prioritize fashion innovation, seasonal trends, and aesthetic diversity—factors that command premium pricing in competitive markets.</a:t>
            </a:r>
            <a:endParaRPr lang="en-US" sz="1150" dirty="0"/>
          </a:p>
        </p:txBody>
      </p:sp>
      <p:pic>
        <p:nvPicPr>
          <p:cNvPr id="6" name="Image 0" descr="preencoded.png">    </p:cNvPr>
          <p:cNvPicPr>
            <a:picLocks noChangeAspect="1"/>
          </p:cNvPicPr>
          <p:nvPr/>
        </p:nvPicPr>
        <p:blipFill>
          <a:blip r:embed="rId1"/>
          <a:stretch>
            <a:fillRect/>
          </a:stretch>
        </p:blipFill>
        <p:spPr>
          <a:xfrm>
            <a:off x="7502604" y="2394704"/>
            <a:ext cx="4121944" cy="412194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2286833"/>
            <a:ext cx="9885045" cy="496133"/>
          </a:xfrm>
          <a:prstGeom prst="rect">
            <a:avLst/>
          </a:prstGeom>
          <a:noFill/>
          <a:ln/>
        </p:spPr>
        <p:txBody>
          <a:bodyPr wrap="none" lIns="0" tIns="0" rIns="0" bIns="0" rtlCol="0" anchor="t"/>
          <a:lstStyle/>
          <a:p>
            <a:pPr algn="l" indent="0" marL="0">
              <a:lnSpc>
                <a:spcPts val="3900"/>
              </a:lnSpc>
              <a:buNone/>
            </a:pPr>
            <a:r>
              <a:rPr lang="en-US" sz="3100" b="1" dirty="0">
                <a:solidFill>
                  <a:srgbClr val="000000"/>
                </a:solidFill>
                <a:latin typeface="Inter Bold" pitchFamily="34" charset="0"/>
                <a:ea typeface="Inter Bold" pitchFamily="34" charset="-122"/>
                <a:cs typeface="Inter Bold" pitchFamily="34" charset="-120"/>
              </a:rPr>
              <a:t>The Value of Differentiation and Design Complexity</a:t>
            </a:r>
            <a:endParaRPr lang="en-US" sz="3100" dirty="0"/>
          </a:p>
        </p:txBody>
      </p:sp>
      <p:sp>
        <p:nvSpPr>
          <p:cNvPr id="3" name="Text 1"/>
          <p:cNvSpPr/>
          <p:nvPr/>
        </p:nvSpPr>
        <p:spPr>
          <a:xfrm>
            <a:off x="793790" y="3100507"/>
            <a:ext cx="13042821" cy="508159"/>
          </a:xfrm>
          <a:prstGeom prst="rect">
            <a:avLst/>
          </a:prstGeom>
          <a:noFill/>
          <a:ln/>
        </p:spPr>
        <p:txBody>
          <a:bodyPr wrap="square" lIns="0" tIns="0" rIns="0" bIns="0" rtlCol="0" anchor="t"/>
          <a:lstStyle/>
          <a:p>
            <a:pPr algn="l" indent="0" marL="0">
              <a:lnSpc>
                <a:spcPts val="2000"/>
              </a:lnSpc>
              <a:buNone/>
            </a:pPr>
            <a:r>
              <a:rPr lang="en-US" sz="1250" dirty="0">
                <a:solidFill>
                  <a:srgbClr val="272525"/>
                </a:solidFill>
                <a:latin typeface="Inter" pitchFamily="34" charset="0"/>
                <a:ea typeface="Inter" pitchFamily="34" charset="-122"/>
                <a:cs typeface="Inter" pitchFamily="34" charset="-120"/>
              </a:rPr>
              <a:t>Women's fashion features substantially more complex designs, varied styles, and diverse material selections compared to men's clothing. This complexity directly impacts production costs and retail pricing strategies.</a:t>
            </a:r>
            <a:endParaRPr lang="en-US" sz="1250" dirty="0"/>
          </a:p>
        </p:txBody>
      </p:sp>
      <p:sp>
        <p:nvSpPr>
          <p:cNvPr id="4" name="Shape 2"/>
          <p:cNvSpPr/>
          <p:nvPr/>
        </p:nvSpPr>
        <p:spPr>
          <a:xfrm>
            <a:off x="793790" y="3787259"/>
            <a:ext cx="4241721" cy="1468636"/>
          </a:xfrm>
          <a:prstGeom prst="roundRect">
            <a:avLst>
              <a:gd name="adj" fmla="val 7471"/>
            </a:avLst>
          </a:prstGeom>
          <a:solidFill>
            <a:srgbClr val="FFFFFF"/>
          </a:solidFill>
          <a:ln w="22860">
            <a:solidFill>
              <a:srgbClr val="C0C1D7"/>
            </a:solidFill>
            <a:prstDash val="solid"/>
          </a:ln>
        </p:spPr>
      </p:sp>
      <p:sp>
        <p:nvSpPr>
          <p:cNvPr id="5" name="Shape 3"/>
          <p:cNvSpPr/>
          <p:nvPr/>
        </p:nvSpPr>
        <p:spPr>
          <a:xfrm>
            <a:off x="770930" y="3787259"/>
            <a:ext cx="91440" cy="1468636"/>
          </a:xfrm>
          <a:prstGeom prst="roundRect">
            <a:avLst>
              <a:gd name="adj" fmla="val 72930"/>
            </a:avLst>
          </a:prstGeom>
          <a:solidFill>
            <a:srgbClr val="4950BC"/>
          </a:solidFill>
          <a:ln/>
        </p:spPr>
      </p:sp>
      <p:sp>
        <p:nvSpPr>
          <p:cNvPr id="6" name="Text 4"/>
          <p:cNvSpPr/>
          <p:nvPr/>
        </p:nvSpPr>
        <p:spPr>
          <a:xfrm>
            <a:off x="1043940" y="3968829"/>
            <a:ext cx="1984653" cy="248007"/>
          </a:xfrm>
          <a:prstGeom prst="rect">
            <a:avLst/>
          </a:prstGeom>
          <a:noFill/>
          <a:ln/>
        </p:spPr>
        <p:txBody>
          <a:bodyPr wrap="none" lIns="0" tIns="0" rIns="0" bIns="0" rtlCol="0" anchor="t"/>
          <a:lstStyle/>
          <a:p>
            <a:pPr algn="l" indent="0" marL="0">
              <a:lnSpc>
                <a:spcPts val="1950"/>
              </a:lnSpc>
              <a:buNone/>
            </a:pPr>
            <a:r>
              <a:rPr lang="en-US" sz="1550" b="1" dirty="0">
                <a:solidFill>
                  <a:srgbClr val="272525"/>
                </a:solidFill>
                <a:latin typeface="Inter Bold" pitchFamily="34" charset="0"/>
                <a:ea typeface="Inter Bold" pitchFamily="34" charset="-122"/>
                <a:cs typeface="Inter Bold" pitchFamily="34" charset="-120"/>
              </a:rPr>
              <a:t>Design Intricacy</a:t>
            </a:r>
            <a:endParaRPr lang="en-US" sz="1550" dirty="0"/>
          </a:p>
        </p:txBody>
      </p:sp>
      <p:sp>
        <p:nvSpPr>
          <p:cNvPr id="7" name="Text 5"/>
          <p:cNvSpPr/>
          <p:nvPr/>
        </p:nvSpPr>
        <p:spPr>
          <a:xfrm>
            <a:off x="1043940" y="4312087"/>
            <a:ext cx="3810000" cy="762238"/>
          </a:xfrm>
          <a:prstGeom prst="rect">
            <a:avLst/>
          </a:prstGeom>
          <a:noFill/>
          <a:ln/>
        </p:spPr>
        <p:txBody>
          <a:bodyPr wrap="square" lIns="0" tIns="0" rIns="0" bIns="0" rtlCol="0" anchor="t"/>
          <a:lstStyle/>
          <a:p>
            <a:pPr algn="l" indent="0" marL="0">
              <a:lnSpc>
                <a:spcPts val="2000"/>
              </a:lnSpc>
              <a:buNone/>
            </a:pPr>
            <a:r>
              <a:rPr lang="en-US" sz="1250" dirty="0">
                <a:solidFill>
                  <a:srgbClr val="272525"/>
                </a:solidFill>
                <a:latin typeface="Inter" pitchFamily="34" charset="0"/>
                <a:ea typeface="Inter" pitchFamily="34" charset="-122"/>
                <a:cs typeface="Inter" pitchFamily="34" charset="-120"/>
              </a:rPr>
              <a:t>Multiple cuts, silhouettes, and construction techniques require specialized labor and longer production times</a:t>
            </a:r>
            <a:endParaRPr lang="en-US" sz="1250" dirty="0"/>
          </a:p>
        </p:txBody>
      </p:sp>
      <p:sp>
        <p:nvSpPr>
          <p:cNvPr id="8" name="Shape 6"/>
          <p:cNvSpPr/>
          <p:nvPr/>
        </p:nvSpPr>
        <p:spPr>
          <a:xfrm>
            <a:off x="5194221" y="3787259"/>
            <a:ext cx="4241840" cy="1468636"/>
          </a:xfrm>
          <a:prstGeom prst="roundRect">
            <a:avLst>
              <a:gd name="adj" fmla="val 7471"/>
            </a:avLst>
          </a:prstGeom>
          <a:solidFill>
            <a:srgbClr val="FFFFFF"/>
          </a:solidFill>
          <a:ln w="22860">
            <a:solidFill>
              <a:srgbClr val="C0C1D7"/>
            </a:solidFill>
            <a:prstDash val="solid"/>
          </a:ln>
        </p:spPr>
      </p:sp>
      <p:sp>
        <p:nvSpPr>
          <p:cNvPr id="9" name="Shape 7"/>
          <p:cNvSpPr/>
          <p:nvPr/>
        </p:nvSpPr>
        <p:spPr>
          <a:xfrm>
            <a:off x="5171361" y="3787259"/>
            <a:ext cx="91440" cy="1468636"/>
          </a:xfrm>
          <a:prstGeom prst="roundRect">
            <a:avLst>
              <a:gd name="adj" fmla="val 72930"/>
            </a:avLst>
          </a:prstGeom>
          <a:solidFill>
            <a:srgbClr val="4950BC"/>
          </a:solidFill>
          <a:ln/>
        </p:spPr>
      </p:sp>
      <p:sp>
        <p:nvSpPr>
          <p:cNvPr id="10" name="Text 8"/>
          <p:cNvSpPr/>
          <p:nvPr/>
        </p:nvSpPr>
        <p:spPr>
          <a:xfrm>
            <a:off x="5444371" y="3968829"/>
            <a:ext cx="1984653" cy="248007"/>
          </a:xfrm>
          <a:prstGeom prst="rect">
            <a:avLst/>
          </a:prstGeom>
          <a:noFill/>
          <a:ln/>
        </p:spPr>
        <p:txBody>
          <a:bodyPr wrap="none" lIns="0" tIns="0" rIns="0" bIns="0" rtlCol="0" anchor="t"/>
          <a:lstStyle/>
          <a:p>
            <a:pPr algn="l" indent="0" marL="0">
              <a:lnSpc>
                <a:spcPts val="1950"/>
              </a:lnSpc>
              <a:buNone/>
            </a:pPr>
            <a:r>
              <a:rPr lang="en-US" sz="1550" b="1" dirty="0">
                <a:solidFill>
                  <a:srgbClr val="272525"/>
                </a:solidFill>
                <a:latin typeface="Inter Bold" pitchFamily="34" charset="0"/>
                <a:ea typeface="Inter Bold" pitchFamily="34" charset="-122"/>
                <a:cs typeface="Inter Bold" pitchFamily="34" charset="-120"/>
              </a:rPr>
              <a:t>Material Diversity</a:t>
            </a:r>
            <a:endParaRPr lang="en-US" sz="1550" dirty="0"/>
          </a:p>
        </p:txBody>
      </p:sp>
      <p:sp>
        <p:nvSpPr>
          <p:cNvPr id="11" name="Text 9"/>
          <p:cNvSpPr/>
          <p:nvPr/>
        </p:nvSpPr>
        <p:spPr>
          <a:xfrm>
            <a:off x="5444371" y="4312087"/>
            <a:ext cx="3810119" cy="762238"/>
          </a:xfrm>
          <a:prstGeom prst="rect">
            <a:avLst/>
          </a:prstGeom>
          <a:noFill/>
          <a:ln/>
        </p:spPr>
        <p:txBody>
          <a:bodyPr wrap="square" lIns="0" tIns="0" rIns="0" bIns="0" rtlCol="0" anchor="t"/>
          <a:lstStyle/>
          <a:p>
            <a:pPr algn="l" indent="0" marL="0">
              <a:lnSpc>
                <a:spcPts val="2000"/>
              </a:lnSpc>
              <a:buNone/>
            </a:pPr>
            <a:r>
              <a:rPr lang="en-US" sz="1250" dirty="0">
                <a:solidFill>
                  <a:srgbClr val="272525"/>
                </a:solidFill>
                <a:latin typeface="Inter" pitchFamily="34" charset="0"/>
                <a:ea typeface="Inter" pitchFamily="34" charset="-122"/>
                <a:cs typeface="Inter" pitchFamily="34" charset="-120"/>
              </a:rPr>
              <a:t>From silk and chiffon to technical fabrics, women's clothing utilizes a broader range of materials with varying cost structures</a:t>
            </a:r>
            <a:endParaRPr lang="en-US" sz="1250" dirty="0"/>
          </a:p>
        </p:txBody>
      </p:sp>
      <p:sp>
        <p:nvSpPr>
          <p:cNvPr id="12" name="Shape 10"/>
          <p:cNvSpPr/>
          <p:nvPr/>
        </p:nvSpPr>
        <p:spPr>
          <a:xfrm>
            <a:off x="9594771" y="3787259"/>
            <a:ext cx="4241721" cy="1468636"/>
          </a:xfrm>
          <a:prstGeom prst="roundRect">
            <a:avLst>
              <a:gd name="adj" fmla="val 7471"/>
            </a:avLst>
          </a:prstGeom>
          <a:solidFill>
            <a:srgbClr val="FFFFFF"/>
          </a:solidFill>
          <a:ln w="22860">
            <a:solidFill>
              <a:srgbClr val="C0C1D7"/>
            </a:solidFill>
            <a:prstDash val="solid"/>
          </a:ln>
        </p:spPr>
      </p:sp>
      <p:sp>
        <p:nvSpPr>
          <p:cNvPr id="13" name="Shape 11"/>
          <p:cNvSpPr/>
          <p:nvPr/>
        </p:nvSpPr>
        <p:spPr>
          <a:xfrm>
            <a:off x="9571911" y="3787259"/>
            <a:ext cx="91440" cy="1468636"/>
          </a:xfrm>
          <a:prstGeom prst="roundRect">
            <a:avLst>
              <a:gd name="adj" fmla="val 72930"/>
            </a:avLst>
          </a:prstGeom>
          <a:solidFill>
            <a:srgbClr val="4950BC"/>
          </a:solidFill>
          <a:ln/>
        </p:spPr>
      </p:sp>
      <p:sp>
        <p:nvSpPr>
          <p:cNvPr id="14" name="Text 12"/>
          <p:cNvSpPr/>
          <p:nvPr/>
        </p:nvSpPr>
        <p:spPr>
          <a:xfrm>
            <a:off x="9844921" y="3968829"/>
            <a:ext cx="1984653" cy="248007"/>
          </a:xfrm>
          <a:prstGeom prst="rect">
            <a:avLst/>
          </a:prstGeom>
          <a:noFill/>
          <a:ln/>
        </p:spPr>
        <p:txBody>
          <a:bodyPr wrap="none" lIns="0" tIns="0" rIns="0" bIns="0" rtlCol="0" anchor="t"/>
          <a:lstStyle/>
          <a:p>
            <a:pPr algn="l" indent="0" marL="0">
              <a:lnSpc>
                <a:spcPts val="1950"/>
              </a:lnSpc>
              <a:buNone/>
            </a:pPr>
            <a:r>
              <a:rPr lang="en-US" sz="1550" b="1" dirty="0">
                <a:solidFill>
                  <a:srgbClr val="272525"/>
                </a:solidFill>
                <a:latin typeface="Inter Bold" pitchFamily="34" charset="0"/>
                <a:ea typeface="Inter Bold" pitchFamily="34" charset="-122"/>
                <a:cs typeface="Inter Bold" pitchFamily="34" charset="-120"/>
              </a:rPr>
              <a:t>Style Variation</a:t>
            </a:r>
            <a:endParaRPr lang="en-US" sz="1550" dirty="0"/>
          </a:p>
        </p:txBody>
      </p:sp>
      <p:sp>
        <p:nvSpPr>
          <p:cNvPr id="15" name="Text 13"/>
          <p:cNvSpPr/>
          <p:nvPr/>
        </p:nvSpPr>
        <p:spPr>
          <a:xfrm>
            <a:off x="9844921" y="4312087"/>
            <a:ext cx="3810000" cy="762238"/>
          </a:xfrm>
          <a:prstGeom prst="rect">
            <a:avLst/>
          </a:prstGeom>
          <a:noFill/>
          <a:ln/>
        </p:spPr>
        <p:txBody>
          <a:bodyPr wrap="square" lIns="0" tIns="0" rIns="0" bIns="0" rtlCol="0" anchor="t"/>
          <a:lstStyle/>
          <a:p>
            <a:pPr algn="l" indent="0" marL="0">
              <a:lnSpc>
                <a:spcPts val="2000"/>
              </a:lnSpc>
              <a:buNone/>
            </a:pPr>
            <a:r>
              <a:rPr lang="en-US" sz="1250" dirty="0">
                <a:solidFill>
                  <a:srgbClr val="272525"/>
                </a:solidFill>
                <a:latin typeface="Inter" pitchFamily="34" charset="0"/>
                <a:ea typeface="Inter" pitchFamily="34" charset="-122"/>
                <a:cs typeface="Inter" pitchFamily="34" charset="-120"/>
              </a:rPr>
              <a:t>Seasonal collections feature hundreds of unique styles, each requiring separate design, production, and inventory management</a:t>
            </a:r>
            <a:endParaRPr lang="en-US" sz="1250" dirty="0"/>
          </a:p>
        </p:txBody>
      </p:sp>
      <p:sp>
        <p:nvSpPr>
          <p:cNvPr id="16" name="Text 14"/>
          <p:cNvSpPr/>
          <p:nvPr/>
        </p:nvSpPr>
        <p:spPr>
          <a:xfrm>
            <a:off x="793790" y="5434489"/>
            <a:ext cx="13042821" cy="508159"/>
          </a:xfrm>
          <a:prstGeom prst="rect">
            <a:avLst/>
          </a:prstGeom>
          <a:noFill/>
          <a:ln/>
        </p:spPr>
        <p:txBody>
          <a:bodyPr wrap="square" lIns="0" tIns="0" rIns="0" bIns="0" rtlCol="0" anchor="t"/>
          <a:lstStyle/>
          <a:p>
            <a:pPr algn="l" indent="0" marL="0">
              <a:lnSpc>
                <a:spcPts val="2000"/>
              </a:lnSpc>
              <a:buNone/>
            </a:pPr>
            <a:r>
              <a:rPr lang="en-US" sz="1250" dirty="0">
                <a:solidFill>
                  <a:srgbClr val="272525"/>
                </a:solidFill>
                <a:latin typeface="Inter" pitchFamily="34" charset="0"/>
                <a:ea typeface="Inter" pitchFamily="34" charset="-122"/>
                <a:cs typeface="Inter" pitchFamily="34" charset="-120"/>
              </a:rPr>
              <a:t>Marketing campaigns amplify these differences by emphasizing luxury, exclusivity, and trend leadership. Branding strategies position women's fashion as investment pieces rather than utilitarian purchases, fundamentally increasing perceived value and justifying premium price points.</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666161"/>
            <a:ext cx="8898136" cy="460772"/>
          </a:xfrm>
          <a:prstGeom prst="rect">
            <a:avLst/>
          </a:prstGeom>
          <a:noFill/>
          <a:ln/>
        </p:spPr>
        <p:txBody>
          <a:bodyPr wrap="none" lIns="0" tIns="0" rIns="0" bIns="0" rtlCol="0" anchor="t"/>
          <a:lstStyle/>
          <a:p>
            <a:pPr algn="l" indent="0" marL="0">
              <a:lnSpc>
                <a:spcPts val="3600"/>
              </a:lnSpc>
              <a:buNone/>
            </a:pPr>
            <a:r>
              <a:rPr lang="en-US" sz="2900" b="1" dirty="0">
                <a:solidFill>
                  <a:srgbClr val="000000"/>
                </a:solidFill>
                <a:latin typeface="Inter Bold" pitchFamily="34" charset="0"/>
                <a:ea typeface="Inter Bold" pitchFamily="34" charset="-122"/>
                <a:cs typeface="Inter Bold" pitchFamily="34" charset="-120"/>
              </a:rPr>
              <a:t>Consumer Perceptions and the Fairness Question</a:t>
            </a:r>
            <a:endParaRPr lang="en-US" sz="2900" dirty="0"/>
          </a:p>
        </p:txBody>
      </p:sp>
      <p:sp>
        <p:nvSpPr>
          <p:cNvPr id="3" name="Text 1"/>
          <p:cNvSpPr/>
          <p:nvPr/>
        </p:nvSpPr>
        <p:spPr>
          <a:xfrm>
            <a:off x="793790" y="2495431"/>
            <a:ext cx="2211467" cy="276344"/>
          </a:xfrm>
          <a:prstGeom prst="rect">
            <a:avLst/>
          </a:prstGeom>
          <a:noFill/>
          <a:ln/>
        </p:spPr>
        <p:txBody>
          <a:bodyPr wrap="none" lIns="0" tIns="0" rIns="0" bIns="0" rtlCol="0" anchor="t"/>
          <a:lstStyle/>
          <a:p>
            <a:pPr algn="l" indent="0" marL="0">
              <a:lnSpc>
                <a:spcPts val="2150"/>
              </a:lnSpc>
              <a:buNone/>
            </a:pPr>
            <a:r>
              <a:rPr lang="en-US" sz="1700" b="1" dirty="0">
                <a:solidFill>
                  <a:srgbClr val="000000"/>
                </a:solidFill>
                <a:latin typeface="Inter Bold" pitchFamily="34" charset="0"/>
                <a:ea typeface="Inter Bold" pitchFamily="34" charset="-122"/>
                <a:cs typeface="Inter Bold" pitchFamily="34" charset="-120"/>
              </a:rPr>
              <a:t>The Pink Tax Debate</a:t>
            </a:r>
            <a:endParaRPr lang="en-US" sz="1700" dirty="0"/>
          </a:p>
        </p:txBody>
      </p:sp>
      <p:sp>
        <p:nvSpPr>
          <p:cNvPr id="4" name="Text 2"/>
          <p:cNvSpPr/>
          <p:nvPr/>
        </p:nvSpPr>
        <p:spPr>
          <a:xfrm>
            <a:off x="793790" y="2919174"/>
            <a:ext cx="5001339" cy="942975"/>
          </a:xfrm>
          <a:prstGeom prst="rect">
            <a:avLst/>
          </a:prstGeom>
          <a:noFill/>
          <a:ln/>
        </p:spPr>
        <p:txBody>
          <a:bodyPr wrap="square" lIns="0" tIns="0" rIns="0" bIns="0" rtlCol="0" anchor="t"/>
          <a:lstStyle/>
          <a:p>
            <a:pPr algn="l" indent="0" marL="0">
              <a:lnSpc>
                <a:spcPts val="1850"/>
              </a:lnSpc>
              <a:buNone/>
            </a:pPr>
            <a:r>
              <a:rPr lang="en-US" sz="1150" dirty="0">
                <a:solidFill>
                  <a:srgbClr val="272525"/>
                </a:solidFill>
                <a:latin typeface="Inter" pitchFamily="34" charset="0"/>
                <a:ea typeface="Inter" pitchFamily="34" charset="-122"/>
                <a:cs typeface="Inter" pitchFamily="34" charset="-120"/>
              </a:rPr>
              <a:t>Gender-based pricing—often called the "pink tax"—generates significant consumer criticism and affects purchasing behavior. Studies show women increasingly recognize pricing disparities and view them as unfair, impacting brand loyalty and purchase decisions.</a:t>
            </a:r>
            <a:endParaRPr lang="en-US" sz="1150" dirty="0"/>
          </a:p>
        </p:txBody>
      </p:sp>
      <p:sp>
        <p:nvSpPr>
          <p:cNvPr id="5" name="Text 3"/>
          <p:cNvSpPr/>
          <p:nvPr/>
        </p:nvSpPr>
        <p:spPr>
          <a:xfrm>
            <a:off x="793790" y="3994785"/>
            <a:ext cx="5001339" cy="942975"/>
          </a:xfrm>
          <a:prstGeom prst="rect">
            <a:avLst/>
          </a:prstGeom>
          <a:noFill/>
          <a:ln/>
        </p:spPr>
        <p:txBody>
          <a:bodyPr wrap="square" lIns="0" tIns="0" rIns="0" bIns="0" rtlCol="0" anchor="t"/>
          <a:lstStyle/>
          <a:p>
            <a:pPr algn="l" indent="0" marL="0">
              <a:lnSpc>
                <a:spcPts val="1850"/>
              </a:lnSpc>
              <a:buNone/>
            </a:pPr>
            <a:r>
              <a:rPr lang="en-US" sz="1150" dirty="0">
                <a:solidFill>
                  <a:srgbClr val="272525"/>
                </a:solidFill>
                <a:latin typeface="Inter" pitchFamily="34" charset="0"/>
                <a:ea typeface="Inter" pitchFamily="34" charset="-122"/>
                <a:cs typeface="Inter" pitchFamily="34" charset="-120"/>
              </a:rPr>
              <a:t>However, firms must balance consumer willingness to pay against perceptions of fairness. Some retailers have begun addressing these concerns through transparent pricing, while others continue traditional strategies, betting that fashion value outweighs fairness concerns.</a:t>
            </a:r>
            <a:endParaRPr lang="en-US" sz="1150" dirty="0"/>
          </a:p>
        </p:txBody>
      </p:sp>
      <p:sp>
        <p:nvSpPr>
          <p:cNvPr id="6" name="Text 4"/>
          <p:cNvSpPr/>
          <p:nvPr/>
        </p:nvSpPr>
        <p:spPr>
          <a:xfrm>
            <a:off x="6162318" y="2587585"/>
            <a:ext cx="3748802" cy="486489"/>
          </a:xfrm>
          <a:prstGeom prst="rect">
            <a:avLst/>
          </a:prstGeom>
          <a:noFill/>
          <a:ln/>
        </p:spPr>
        <p:txBody>
          <a:bodyPr wrap="none" lIns="0" tIns="0" rIns="0" bIns="0" rtlCol="0" anchor="t"/>
          <a:lstStyle/>
          <a:p>
            <a:pPr algn="ctr" indent="0" marL="0">
              <a:lnSpc>
                <a:spcPts val="3800"/>
              </a:lnSpc>
              <a:buNone/>
            </a:pPr>
            <a:r>
              <a:rPr lang="en-US" sz="3800" b="1" dirty="0">
                <a:solidFill>
                  <a:srgbClr val="272525"/>
                </a:solidFill>
                <a:latin typeface="Inter Bold" pitchFamily="34" charset="0"/>
                <a:ea typeface="Inter Bold" pitchFamily="34" charset="-122"/>
                <a:cs typeface="Inter Bold" pitchFamily="34" charset="-120"/>
              </a:rPr>
              <a:t>42%</a:t>
            </a:r>
            <a:endParaRPr lang="en-US" sz="3800" dirty="0"/>
          </a:p>
        </p:txBody>
      </p:sp>
      <p:sp>
        <p:nvSpPr>
          <p:cNvPr id="7" name="Text 5"/>
          <p:cNvSpPr/>
          <p:nvPr/>
        </p:nvSpPr>
        <p:spPr>
          <a:xfrm>
            <a:off x="7115175" y="3258264"/>
            <a:ext cx="1842968" cy="230386"/>
          </a:xfrm>
          <a:prstGeom prst="rect">
            <a:avLst/>
          </a:prstGeom>
          <a:noFill/>
          <a:ln/>
        </p:spPr>
        <p:txBody>
          <a:bodyPr wrap="none" lIns="0" tIns="0" rIns="0" bIns="0" rtlCol="0" anchor="t"/>
          <a:lstStyle/>
          <a:p>
            <a:pPr algn="ctr" indent="0" marL="0">
              <a:lnSpc>
                <a:spcPts val="1800"/>
              </a:lnSpc>
              <a:buNone/>
            </a:pPr>
            <a:r>
              <a:rPr lang="en-US" sz="1450" b="1" dirty="0">
                <a:solidFill>
                  <a:srgbClr val="272525"/>
                </a:solidFill>
                <a:latin typeface="Inter Bold" pitchFamily="34" charset="0"/>
                <a:ea typeface="Inter Bold" pitchFamily="34" charset="-122"/>
                <a:cs typeface="Inter Bold" pitchFamily="34" charset="-120"/>
              </a:rPr>
              <a:t>Consumers Aware</a:t>
            </a:r>
            <a:endParaRPr lang="en-US" sz="1450" dirty="0"/>
          </a:p>
        </p:txBody>
      </p:sp>
      <p:sp>
        <p:nvSpPr>
          <p:cNvPr id="8" name="Text 6"/>
          <p:cNvSpPr/>
          <p:nvPr/>
        </p:nvSpPr>
        <p:spPr>
          <a:xfrm>
            <a:off x="6162318" y="3636050"/>
            <a:ext cx="3748802" cy="471488"/>
          </a:xfrm>
          <a:prstGeom prst="rect">
            <a:avLst/>
          </a:prstGeom>
          <a:noFill/>
          <a:ln/>
        </p:spPr>
        <p:txBody>
          <a:bodyPr wrap="square" lIns="0" tIns="0" rIns="0" bIns="0" rtlCol="0" anchor="t"/>
          <a:lstStyle/>
          <a:p>
            <a:pPr algn="ctr" indent="0" marL="0">
              <a:lnSpc>
                <a:spcPts val="1850"/>
              </a:lnSpc>
              <a:buNone/>
            </a:pPr>
            <a:r>
              <a:rPr lang="en-US" sz="1150" dirty="0">
                <a:solidFill>
                  <a:srgbClr val="272525"/>
                </a:solidFill>
                <a:latin typeface="Inter" pitchFamily="34" charset="0"/>
                <a:ea typeface="Inter" pitchFamily="34" charset="-122"/>
                <a:cs typeface="Inter" pitchFamily="34" charset="-120"/>
              </a:rPr>
              <a:t>Percentage of women who recognize gender-based pricing in apparel</a:t>
            </a:r>
            <a:endParaRPr lang="en-US" sz="1150" dirty="0"/>
          </a:p>
        </p:txBody>
      </p:sp>
      <p:sp>
        <p:nvSpPr>
          <p:cNvPr id="9" name="Text 7"/>
          <p:cNvSpPr/>
          <p:nvPr/>
        </p:nvSpPr>
        <p:spPr>
          <a:xfrm>
            <a:off x="10095309" y="2587585"/>
            <a:ext cx="3748802" cy="486489"/>
          </a:xfrm>
          <a:prstGeom prst="rect">
            <a:avLst/>
          </a:prstGeom>
          <a:noFill/>
          <a:ln/>
        </p:spPr>
        <p:txBody>
          <a:bodyPr wrap="none" lIns="0" tIns="0" rIns="0" bIns="0" rtlCol="0" anchor="t"/>
          <a:lstStyle/>
          <a:p>
            <a:pPr algn="ctr" indent="0" marL="0">
              <a:lnSpc>
                <a:spcPts val="3800"/>
              </a:lnSpc>
              <a:buNone/>
            </a:pPr>
            <a:r>
              <a:rPr lang="en-US" sz="3800" b="1" dirty="0">
                <a:solidFill>
                  <a:srgbClr val="272525"/>
                </a:solidFill>
                <a:latin typeface="Inter Bold" pitchFamily="34" charset="0"/>
                <a:ea typeface="Inter Bold" pitchFamily="34" charset="-122"/>
                <a:cs typeface="Inter Bold" pitchFamily="34" charset="-120"/>
              </a:rPr>
              <a:t>67%</a:t>
            </a:r>
            <a:endParaRPr lang="en-US" sz="3800" dirty="0"/>
          </a:p>
        </p:txBody>
      </p:sp>
      <p:sp>
        <p:nvSpPr>
          <p:cNvPr id="10" name="Text 8"/>
          <p:cNvSpPr/>
          <p:nvPr/>
        </p:nvSpPr>
        <p:spPr>
          <a:xfrm>
            <a:off x="11048167" y="3258264"/>
            <a:ext cx="1842968" cy="230386"/>
          </a:xfrm>
          <a:prstGeom prst="rect">
            <a:avLst/>
          </a:prstGeom>
          <a:noFill/>
          <a:ln/>
        </p:spPr>
        <p:txBody>
          <a:bodyPr wrap="none" lIns="0" tIns="0" rIns="0" bIns="0" rtlCol="0" anchor="t"/>
          <a:lstStyle/>
          <a:p>
            <a:pPr algn="ctr" indent="0" marL="0">
              <a:lnSpc>
                <a:spcPts val="1800"/>
              </a:lnSpc>
              <a:buNone/>
            </a:pPr>
            <a:r>
              <a:rPr lang="en-US" sz="1450" b="1" dirty="0">
                <a:solidFill>
                  <a:srgbClr val="272525"/>
                </a:solidFill>
                <a:latin typeface="Inter Bold" pitchFamily="34" charset="0"/>
                <a:ea typeface="Inter Bold" pitchFamily="34" charset="-122"/>
                <a:cs typeface="Inter Bold" pitchFamily="34" charset="-120"/>
              </a:rPr>
              <a:t>Perceive Unfairness</a:t>
            </a:r>
            <a:endParaRPr lang="en-US" sz="1450" dirty="0"/>
          </a:p>
        </p:txBody>
      </p:sp>
      <p:sp>
        <p:nvSpPr>
          <p:cNvPr id="11" name="Text 9"/>
          <p:cNvSpPr/>
          <p:nvPr/>
        </p:nvSpPr>
        <p:spPr>
          <a:xfrm>
            <a:off x="10095309" y="3636050"/>
            <a:ext cx="3748802" cy="235744"/>
          </a:xfrm>
          <a:prstGeom prst="rect">
            <a:avLst/>
          </a:prstGeom>
          <a:noFill/>
          <a:ln/>
        </p:spPr>
        <p:txBody>
          <a:bodyPr wrap="none" lIns="0" tIns="0" rIns="0" bIns="0" rtlCol="0" anchor="t"/>
          <a:lstStyle/>
          <a:p>
            <a:pPr algn="ctr" indent="0" marL="0">
              <a:lnSpc>
                <a:spcPts val="1850"/>
              </a:lnSpc>
              <a:buNone/>
            </a:pPr>
            <a:r>
              <a:rPr lang="en-US" sz="1150" dirty="0">
                <a:solidFill>
                  <a:srgbClr val="272525"/>
                </a:solidFill>
                <a:latin typeface="Inter" pitchFamily="34" charset="0"/>
                <a:ea typeface="Inter" pitchFamily="34" charset="-122"/>
                <a:cs typeface="Inter" pitchFamily="34" charset="-120"/>
              </a:rPr>
              <a:t>Women who view pricing disparities as unjustified</a:t>
            </a:r>
            <a:endParaRPr lang="en-US" sz="1150" dirty="0"/>
          </a:p>
        </p:txBody>
      </p:sp>
      <p:sp>
        <p:nvSpPr>
          <p:cNvPr id="12" name="Text 10"/>
          <p:cNvSpPr/>
          <p:nvPr/>
        </p:nvSpPr>
        <p:spPr>
          <a:xfrm>
            <a:off x="8128754" y="4476036"/>
            <a:ext cx="3748802" cy="486489"/>
          </a:xfrm>
          <a:prstGeom prst="rect">
            <a:avLst/>
          </a:prstGeom>
          <a:noFill/>
          <a:ln/>
        </p:spPr>
        <p:txBody>
          <a:bodyPr wrap="none" lIns="0" tIns="0" rIns="0" bIns="0" rtlCol="0" anchor="t"/>
          <a:lstStyle/>
          <a:p>
            <a:pPr algn="ctr" indent="0" marL="0">
              <a:lnSpc>
                <a:spcPts val="3800"/>
              </a:lnSpc>
              <a:buNone/>
            </a:pPr>
            <a:r>
              <a:rPr lang="en-US" sz="3800" b="1" dirty="0">
                <a:solidFill>
                  <a:srgbClr val="272525"/>
                </a:solidFill>
                <a:latin typeface="Inter Bold" pitchFamily="34" charset="0"/>
                <a:ea typeface="Inter Bold" pitchFamily="34" charset="-122"/>
                <a:cs typeface="Inter Bold" pitchFamily="34" charset="-120"/>
              </a:rPr>
              <a:t>28%</a:t>
            </a:r>
            <a:endParaRPr lang="en-US" sz="3800" dirty="0"/>
          </a:p>
        </p:txBody>
      </p:sp>
      <p:sp>
        <p:nvSpPr>
          <p:cNvPr id="13" name="Text 11"/>
          <p:cNvSpPr/>
          <p:nvPr/>
        </p:nvSpPr>
        <p:spPr>
          <a:xfrm>
            <a:off x="9081611" y="5146715"/>
            <a:ext cx="1842968" cy="230386"/>
          </a:xfrm>
          <a:prstGeom prst="rect">
            <a:avLst/>
          </a:prstGeom>
          <a:noFill/>
          <a:ln/>
        </p:spPr>
        <p:txBody>
          <a:bodyPr wrap="none" lIns="0" tIns="0" rIns="0" bIns="0" rtlCol="0" anchor="t"/>
          <a:lstStyle/>
          <a:p>
            <a:pPr algn="ctr" indent="0" marL="0">
              <a:lnSpc>
                <a:spcPts val="1800"/>
              </a:lnSpc>
              <a:buNone/>
            </a:pPr>
            <a:r>
              <a:rPr lang="en-US" sz="1450" b="1" dirty="0">
                <a:solidFill>
                  <a:srgbClr val="272525"/>
                </a:solidFill>
                <a:latin typeface="Inter Bold" pitchFamily="34" charset="0"/>
                <a:ea typeface="Inter Bold" pitchFamily="34" charset="-122"/>
                <a:cs typeface="Inter Bold" pitchFamily="34" charset="-120"/>
              </a:rPr>
              <a:t>Changed Behavior</a:t>
            </a:r>
            <a:endParaRPr lang="en-US" sz="1450" dirty="0"/>
          </a:p>
        </p:txBody>
      </p:sp>
      <p:sp>
        <p:nvSpPr>
          <p:cNvPr id="14" name="Text 12"/>
          <p:cNvSpPr/>
          <p:nvPr/>
        </p:nvSpPr>
        <p:spPr>
          <a:xfrm>
            <a:off x="8128754" y="5524500"/>
            <a:ext cx="3748802" cy="471488"/>
          </a:xfrm>
          <a:prstGeom prst="rect">
            <a:avLst/>
          </a:prstGeom>
          <a:noFill/>
          <a:ln/>
        </p:spPr>
        <p:txBody>
          <a:bodyPr wrap="square" lIns="0" tIns="0" rIns="0" bIns="0" rtlCol="0" anchor="t"/>
          <a:lstStyle/>
          <a:p>
            <a:pPr algn="ctr" indent="0" marL="0">
              <a:lnSpc>
                <a:spcPts val="1850"/>
              </a:lnSpc>
              <a:buNone/>
            </a:pPr>
            <a:r>
              <a:rPr lang="en-US" sz="1150" dirty="0">
                <a:solidFill>
                  <a:srgbClr val="272525"/>
                </a:solidFill>
                <a:latin typeface="Inter" pitchFamily="34" charset="0"/>
                <a:ea typeface="Inter" pitchFamily="34" charset="-122"/>
                <a:cs typeface="Inter" pitchFamily="34" charset="-120"/>
              </a:rPr>
              <a:t>Shoppers who've switched brands due to pricing concerns</a:t>
            </a:r>
            <a:endParaRPr lang="en-US" sz="1150" dirty="0"/>
          </a:p>
        </p:txBody>
      </p:sp>
      <p:sp>
        <p:nvSpPr>
          <p:cNvPr id="15" name="Text 13"/>
          <p:cNvSpPr/>
          <p:nvPr/>
        </p:nvSpPr>
        <p:spPr>
          <a:xfrm>
            <a:off x="793790" y="6327696"/>
            <a:ext cx="13042821" cy="235744"/>
          </a:xfrm>
          <a:prstGeom prst="rect">
            <a:avLst/>
          </a:prstGeom>
          <a:noFill/>
          <a:ln/>
        </p:spPr>
        <p:txBody>
          <a:bodyPr wrap="none" lIns="0" tIns="0" rIns="0" bIns="0" rtlCol="0" anchor="t"/>
          <a:lstStyle/>
          <a:p>
            <a:pPr algn="l" indent="0" marL="0">
              <a:lnSpc>
                <a:spcPts val="1850"/>
              </a:lnSpc>
              <a:buNone/>
            </a:pPr>
            <a:r>
              <a:rPr lang="en-US" sz="1150" dirty="0">
                <a:solidFill>
                  <a:srgbClr val="272525"/>
                </a:solidFill>
                <a:latin typeface="Inter" pitchFamily="34" charset="0"/>
                <a:ea typeface="Inter" pitchFamily="34" charset="-122"/>
                <a:cs typeface="Inter" pitchFamily="34" charset="-120"/>
              </a:rPr>
              <a:t>The tension between economic optimization and consumer fairness remains a defining challenge for the women's fashion industry in 2025.</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1709738"/>
            <a:ext cx="7166015" cy="460772"/>
          </a:xfrm>
          <a:prstGeom prst="rect">
            <a:avLst/>
          </a:prstGeom>
          <a:noFill/>
          <a:ln/>
        </p:spPr>
        <p:txBody>
          <a:bodyPr wrap="none" lIns="0" tIns="0" rIns="0" bIns="0" rtlCol="0" anchor="t"/>
          <a:lstStyle/>
          <a:p>
            <a:pPr algn="l" indent="0" marL="0">
              <a:lnSpc>
                <a:spcPts val="3600"/>
              </a:lnSpc>
              <a:buNone/>
            </a:pPr>
            <a:r>
              <a:rPr lang="en-US" sz="2900" b="1" dirty="0">
                <a:solidFill>
                  <a:srgbClr val="000000"/>
                </a:solidFill>
                <a:latin typeface="Inter Bold" pitchFamily="34" charset="0"/>
                <a:ea typeface="Inter Bold" pitchFamily="34" charset="-122"/>
                <a:cs typeface="Inter Bold" pitchFamily="34" charset="-120"/>
              </a:rPr>
              <a:t>Marketing Costs and Societal Pressures</a:t>
            </a:r>
            <a:endParaRPr lang="en-US" sz="2900" dirty="0"/>
          </a:p>
        </p:txBody>
      </p:sp>
      <p:pic>
        <p:nvPicPr>
          <p:cNvPr id="4" name="Image 1" descr="preencoded.png">    </p:cNvPr>
          <p:cNvPicPr>
            <a:picLocks noChangeAspect="1"/>
          </p:cNvPicPr>
          <p:nvPr/>
        </p:nvPicPr>
        <p:blipFill>
          <a:blip r:embed="rId2"/>
          <a:stretch>
            <a:fillRect/>
          </a:stretch>
        </p:blipFill>
        <p:spPr>
          <a:xfrm>
            <a:off x="6280190" y="2391608"/>
            <a:ext cx="737116" cy="1085017"/>
          </a:xfrm>
          <a:prstGeom prst="rect">
            <a:avLst/>
          </a:prstGeom>
        </p:spPr>
      </p:pic>
      <p:sp>
        <p:nvSpPr>
          <p:cNvPr id="5" name="Text 1"/>
          <p:cNvSpPr/>
          <p:nvPr/>
        </p:nvSpPr>
        <p:spPr>
          <a:xfrm>
            <a:off x="7164705" y="2539008"/>
            <a:ext cx="1971556" cy="230386"/>
          </a:xfrm>
          <a:prstGeom prst="rect">
            <a:avLst/>
          </a:prstGeom>
          <a:noFill/>
          <a:ln/>
        </p:spPr>
        <p:txBody>
          <a:bodyPr wrap="none" lIns="0" tIns="0" rIns="0" bIns="0" rtlCol="0" anchor="t"/>
          <a:lstStyle/>
          <a:p>
            <a:pPr algn="l" indent="0" marL="0">
              <a:lnSpc>
                <a:spcPts val="1800"/>
              </a:lnSpc>
              <a:buNone/>
            </a:pPr>
            <a:r>
              <a:rPr lang="en-US" sz="1450" b="1" dirty="0">
                <a:solidFill>
                  <a:srgbClr val="272525"/>
                </a:solidFill>
                <a:latin typeface="Inter Bold" pitchFamily="34" charset="0"/>
                <a:ea typeface="Inter Bold" pitchFamily="34" charset="-122"/>
                <a:cs typeface="Inter Bold" pitchFamily="34" charset="-120"/>
              </a:rPr>
              <a:t>Marketing Investment</a:t>
            </a:r>
            <a:endParaRPr lang="en-US" sz="1450" dirty="0"/>
          </a:p>
        </p:txBody>
      </p:sp>
      <p:sp>
        <p:nvSpPr>
          <p:cNvPr id="6" name="Text 2"/>
          <p:cNvSpPr/>
          <p:nvPr/>
        </p:nvSpPr>
        <p:spPr>
          <a:xfrm>
            <a:off x="7164705" y="2857738"/>
            <a:ext cx="6671905" cy="471488"/>
          </a:xfrm>
          <a:prstGeom prst="rect">
            <a:avLst/>
          </a:prstGeom>
          <a:noFill/>
          <a:ln/>
        </p:spPr>
        <p:txBody>
          <a:bodyPr wrap="square" lIns="0" tIns="0" rIns="0" bIns="0" rtlCol="0" anchor="t"/>
          <a:lstStyle/>
          <a:p>
            <a:pPr algn="l" indent="0" marL="0">
              <a:lnSpc>
                <a:spcPts val="1850"/>
              </a:lnSpc>
              <a:buNone/>
            </a:pPr>
            <a:r>
              <a:rPr lang="en-US" sz="1150" dirty="0">
                <a:solidFill>
                  <a:srgbClr val="272525"/>
                </a:solidFill>
                <a:latin typeface="Inter" pitchFamily="34" charset="0"/>
                <a:ea typeface="Inter" pitchFamily="34" charset="-122"/>
                <a:cs typeface="Inter" pitchFamily="34" charset="-120"/>
              </a:rPr>
              <a:t>Women's fashion brands allocate significantly higher budgets to advertising, social media campaigns, and influencer partnerships compared to men's brands</a:t>
            </a:r>
            <a:endParaRPr lang="en-US" sz="1150" dirty="0"/>
          </a:p>
        </p:txBody>
      </p:sp>
      <p:pic>
        <p:nvPicPr>
          <p:cNvPr id="7" name="Image 2" descr="preencoded.png">    </p:cNvPr>
          <p:cNvPicPr>
            <a:picLocks noChangeAspect="1"/>
          </p:cNvPicPr>
          <p:nvPr/>
        </p:nvPicPr>
        <p:blipFill>
          <a:blip r:embed="rId3"/>
          <a:stretch>
            <a:fillRect/>
          </a:stretch>
        </p:blipFill>
        <p:spPr>
          <a:xfrm>
            <a:off x="6280190" y="3476625"/>
            <a:ext cx="737116" cy="1085017"/>
          </a:xfrm>
          <a:prstGeom prst="rect">
            <a:avLst/>
          </a:prstGeom>
        </p:spPr>
      </p:pic>
      <p:sp>
        <p:nvSpPr>
          <p:cNvPr id="8" name="Text 3"/>
          <p:cNvSpPr/>
          <p:nvPr/>
        </p:nvSpPr>
        <p:spPr>
          <a:xfrm>
            <a:off x="7164705" y="3624024"/>
            <a:ext cx="1946791" cy="230386"/>
          </a:xfrm>
          <a:prstGeom prst="rect">
            <a:avLst/>
          </a:prstGeom>
          <a:noFill/>
          <a:ln/>
        </p:spPr>
        <p:txBody>
          <a:bodyPr wrap="none" lIns="0" tIns="0" rIns="0" bIns="0" rtlCol="0" anchor="t"/>
          <a:lstStyle/>
          <a:p>
            <a:pPr algn="l" indent="0" marL="0">
              <a:lnSpc>
                <a:spcPts val="1800"/>
              </a:lnSpc>
              <a:buNone/>
            </a:pPr>
            <a:r>
              <a:rPr lang="en-US" sz="1450" b="1" dirty="0">
                <a:solidFill>
                  <a:srgbClr val="272525"/>
                </a:solidFill>
                <a:latin typeface="Inter Bold" pitchFamily="34" charset="0"/>
                <a:ea typeface="Inter Bold" pitchFamily="34" charset="-122"/>
                <a:cs typeface="Inter Bold" pitchFamily="34" charset="-120"/>
              </a:rPr>
              <a:t>Societal Expectations</a:t>
            </a:r>
            <a:endParaRPr lang="en-US" sz="1450" dirty="0"/>
          </a:p>
        </p:txBody>
      </p:sp>
      <p:sp>
        <p:nvSpPr>
          <p:cNvPr id="9" name="Text 4"/>
          <p:cNvSpPr/>
          <p:nvPr/>
        </p:nvSpPr>
        <p:spPr>
          <a:xfrm>
            <a:off x="7164705" y="3942755"/>
            <a:ext cx="6671905" cy="471488"/>
          </a:xfrm>
          <a:prstGeom prst="rect">
            <a:avLst/>
          </a:prstGeom>
          <a:noFill/>
          <a:ln/>
        </p:spPr>
        <p:txBody>
          <a:bodyPr wrap="square" lIns="0" tIns="0" rIns="0" bIns="0" rtlCol="0" anchor="t"/>
          <a:lstStyle/>
          <a:p>
            <a:pPr algn="l" indent="0" marL="0">
              <a:lnSpc>
                <a:spcPts val="1850"/>
              </a:lnSpc>
              <a:buNone/>
            </a:pPr>
            <a:r>
              <a:rPr lang="en-US" sz="1150" dirty="0">
                <a:solidFill>
                  <a:srgbClr val="272525"/>
                </a:solidFill>
                <a:latin typeface="Inter" pitchFamily="34" charset="0"/>
                <a:ea typeface="Inter" pitchFamily="34" charset="-122"/>
                <a:cs typeface="Inter" pitchFamily="34" charset="-120"/>
              </a:rPr>
              <a:t>Cultural norms create pressure for women to maintain diverse wardrobes and follow seasonal trends, driving demand for premium products</a:t>
            </a:r>
            <a:endParaRPr lang="en-US" sz="1150" dirty="0"/>
          </a:p>
        </p:txBody>
      </p:sp>
      <p:pic>
        <p:nvPicPr>
          <p:cNvPr id="10" name="Image 3" descr="preencoded.png">    </p:cNvPr>
          <p:cNvPicPr>
            <a:picLocks noChangeAspect="1"/>
          </p:cNvPicPr>
          <p:nvPr/>
        </p:nvPicPr>
        <p:blipFill>
          <a:blip r:embed="rId4"/>
          <a:stretch>
            <a:fillRect/>
          </a:stretch>
        </p:blipFill>
        <p:spPr>
          <a:xfrm>
            <a:off x="6280190" y="4561642"/>
            <a:ext cx="737116" cy="1085017"/>
          </a:xfrm>
          <a:prstGeom prst="rect">
            <a:avLst/>
          </a:prstGeom>
        </p:spPr>
      </p:pic>
      <p:sp>
        <p:nvSpPr>
          <p:cNvPr id="11" name="Text 5"/>
          <p:cNvSpPr/>
          <p:nvPr/>
        </p:nvSpPr>
        <p:spPr>
          <a:xfrm>
            <a:off x="7164705" y="4709041"/>
            <a:ext cx="2169200" cy="230386"/>
          </a:xfrm>
          <a:prstGeom prst="rect">
            <a:avLst/>
          </a:prstGeom>
          <a:noFill/>
          <a:ln/>
        </p:spPr>
        <p:txBody>
          <a:bodyPr wrap="none" lIns="0" tIns="0" rIns="0" bIns="0" rtlCol="0" anchor="t"/>
          <a:lstStyle/>
          <a:p>
            <a:pPr algn="l" indent="0" marL="0">
              <a:lnSpc>
                <a:spcPts val="1800"/>
              </a:lnSpc>
              <a:buNone/>
            </a:pPr>
            <a:r>
              <a:rPr lang="en-US" sz="1450" b="1" dirty="0">
                <a:solidFill>
                  <a:srgbClr val="272525"/>
                </a:solidFill>
                <a:latin typeface="Inter Bold" pitchFamily="34" charset="0"/>
                <a:ea typeface="Inter Bold" pitchFamily="34" charset="-122"/>
                <a:cs typeface="Inter Bold" pitchFamily="34" charset="-120"/>
              </a:rPr>
              <a:t>Regulatory Environment</a:t>
            </a:r>
            <a:endParaRPr lang="en-US" sz="1450" dirty="0"/>
          </a:p>
        </p:txBody>
      </p:sp>
      <p:sp>
        <p:nvSpPr>
          <p:cNvPr id="12" name="Text 6"/>
          <p:cNvSpPr/>
          <p:nvPr/>
        </p:nvSpPr>
        <p:spPr>
          <a:xfrm>
            <a:off x="7164705" y="5027771"/>
            <a:ext cx="6671905" cy="471488"/>
          </a:xfrm>
          <a:prstGeom prst="rect">
            <a:avLst/>
          </a:prstGeom>
          <a:noFill/>
          <a:ln/>
        </p:spPr>
        <p:txBody>
          <a:bodyPr wrap="square" lIns="0" tIns="0" rIns="0" bIns="0" rtlCol="0" anchor="t"/>
          <a:lstStyle/>
          <a:p>
            <a:pPr algn="l" indent="0" marL="0">
              <a:lnSpc>
                <a:spcPts val="1850"/>
              </a:lnSpc>
              <a:buNone/>
            </a:pPr>
            <a:r>
              <a:rPr lang="en-US" sz="1150" dirty="0">
                <a:solidFill>
                  <a:srgbClr val="272525"/>
                </a:solidFill>
                <a:latin typeface="Inter" pitchFamily="34" charset="0"/>
                <a:ea typeface="Inter" pitchFamily="34" charset="-122"/>
                <a:cs typeface="Inter" pitchFamily="34" charset="-120"/>
              </a:rPr>
              <a:t>Current frameworks permit gender-based pricing, allowing market forces rather than regulations to determine price structures</a:t>
            </a:r>
            <a:endParaRPr lang="en-US" sz="1150" dirty="0"/>
          </a:p>
        </p:txBody>
      </p:sp>
      <p:sp>
        <p:nvSpPr>
          <p:cNvPr id="13" name="Text 7"/>
          <p:cNvSpPr/>
          <p:nvPr/>
        </p:nvSpPr>
        <p:spPr>
          <a:xfrm>
            <a:off x="6280190" y="5812512"/>
            <a:ext cx="7556421" cy="707231"/>
          </a:xfrm>
          <a:prstGeom prst="rect">
            <a:avLst/>
          </a:prstGeom>
          <a:noFill/>
          <a:ln/>
        </p:spPr>
        <p:txBody>
          <a:bodyPr wrap="square" lIns="0" tIns="0" rIns="0" bIns="0" rtlCol="0" anchor="t"/>
          <a:lstStyle/>
          <a:p>
            <a:pPr algn="l" indent="0" marL="0">
              <a:lnSpc>
                <a:spcPts val="1850"/>
              </a:lnSpc>
              <a:buNone/>
            </a:pPr>
            <a:r>
              <a:rPr lang="en-US" sz="1150" dirty="0">
                <a:solidFill>
                  <a:srgbClr val="272525"/>
                </a:solidFill>
                <a:latin typeface="Inter" pitchFamily="34" charset="0"/>
                <a:ea typeface="Inter" pitchFamily="34" charset="-122"/>
                <a:cs typeface="Inter" pitchFamily="34" charset="-120"/>
              </a:rPr>
              <a:t>These interconnected factors create a self-reinforcing cycle where higher marketing costs justify premium pricing, which funds additional marketing investments, perpetuating the price differential between women's and men's fashion.</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257776"/>
            <a:ext cx="8309134" cy="460772"/>
          </a:xfrm>
          <a:prstGeom prst="rect">
            <a:avLst/>
          </a:prstGeom>
          <a:noFill/>
          <a:ln/>
        </p:spPr>
        <p:txBody>
          <a:bodyPr wrap="none" lIns="0" tIns="0" rIns="0" bIns="0" rtlCol="0" anchor="t"/>
          <a:lstStyle/>
          <a:p>
            <a:pPr algn="l" indent="0" marL="0">
              <a:lnSpc>
                <a:spcPts val="3600"/>
              </a:lnSpc>
              <a:buNone/>
            </a:pPr>
            <a:r>
              <a:rPr lang="en-US" sz="2900" b="1" dirty="0">
                <a:solidFill>
                  <a:srgbClr val="000000"/>
                </a:solidFill>
                <a:latin typeface="Inter Bold" pitchFamily="34" charset="0"/>
                <a:ea typeface="Inter Bold" pitchFamily="34" charset="-122"/>
                <a:cs typeface="Inter Bold" pitchFamily="34" charset="-120"/>
              </a:rPr>
              <a:t>Fashion Industry Trends Shaping 2025 Pricing</a:t>
            </a:r>
            <a:endParaRPr lang="en-US" sz="2900" dirty="0"/>
          </a:p>
        </p:txBody>
      </p:sp>
      <p:sp>
        <p:nvSpPr>
          <p:cNvPr id="3" name="Text 1"/>
          <p:cNvSpPr/>
          <p:nvPr/>
        </p:nvSpPr>
        <p:spPr>
          <a:xfrm>
            <a:off x="793790" y="2013347"/>
            <a:ext cx="13042821" cy="471488"/>
          </a:xfrm>
          <a:prstGeom prst="rect">
            <a:avLst/>
          </a:prstGeom>
          <a:noFill/>
          <a:ln/>
        </p:spPr>
        <p:txBody>
          <a:bodyPr wrap="square" lIns="0" tIns="0" rIns="0" bIns="0" rtlCol="0" anchor="t"/>
          <a:lstStyle/>
          <a:p>
            <a:pPr algn="l" indent="0" marL="0">
              <a:lnSpc>
                <a:spcPts val="1850"/>
              </a:lnSpc>
              <a:buNone/>
            </a:pPr>
            <a:r>
              <a:rPr lang="en-US" sz="1150" dirty="0">
                <a:solidFill>
                  <a:srgbClr val="272525"/>
                </a:solidFill>
                <a:latin typeface="Inter" pitchFamily="34" charset="0"/>
                <a:ea typeface="Inter" pitchFamily="34" charset="-122"/>
                <a:cs typeface="Inter" pitchFamily="34" charset="-120"/>
              </a:rPr>
              <a:t>The women's fashion market in 2025 faces unprecedented complexity driven by economic volatility, technological disruption, and shifting consumer expectations. These forces fundamentally reshape pricing strategies and market positioning.</a:t>
            </a:r>
            <a:endParaRPr lang="en-US" sz="1150" dirty="0"/>
          </a:p>
        </p:txBody>
      </p:sp>
      <p:pic>
        <p:nvPicPr>
          <p:cNvPr id="4" name="Image 0" descr="preencoded.png">    </p:cNvPr>
          <p:cNvPicPr>
            <a:picLocks noChangeAspect="1"/>
          </p:cNvPicPr>
          <p:nvPr/>
        </p:nvPicPr>
        <p:blipFill>
          <a:blip r:embed="rId1"/>
          <a:stretch>
            <a:fillRect/>
          </a:stretch>
        </p:blipFill>
        <p:spPr>
          <a:xfrm>
            <a:off x="793790" y="2650688"/>
            <a:ext cx="2746058" cy="2746058"/>
          </a:xfrm>
          <a:prstGeom prst="rect">
            <a:avLst/>
          </a:prstGeom>
        </p:spPr>
      </p:pic>
      <p:sp>
        <p:nvSpPr>
          <p:cNvPr id="5" name="Text 2"/>
          <p:cNvSpPr/>
          <p:nvPr/>
        </p:nvSpPr>
        <p:spPr>
          <a:xfrm>
            <a:off x="793790" y="5544145"/>
            <a:ext cx="1842968" cy="230386"/>
          </a:xfrm>
          <a:prstGeom prst="rect">
            <a:avLst/>
          </a:prstGeom>
          <a:noFill/>
          <a:ln/>
        </p:spPr>
        <p:txBody>
          <a:bodyPr wrap="none" lIns="0" tIns="0" rIns="0" bIns="0" rtlCol="0" anchor="t"/>
          <a:lstStyle/>
          <a:p>
            <a:pPr algn="l" indent="0" marL="0">
              <a:lnSpc>
                <a:spcPts val="1800"/>
              </a:lnSpc>
              <a:buNone/>
            </a:pPr>
            <a:r>
              <a:rPr lang="en-US" sz="1450" b="1" dirty="0">
                <a:solidFill>
                  <a:srgbClr val="272525"/>
                </a:solidFill>
                <a:latin typeface="Inter Bold" pitchFamily="34" charset="0"/>
                <a:ea typeface="Inter Bold" pitchFamily="34" charset="-122"/>
                <a:cs typeface="Inter Bold" pitchFamily="34" charset="-120"/>
              </a:rPr>
              <a:t>AI Integration</a:t>
            </a:r>
            <a:endParaRPr lang="en-US" sz="1450" dirty="0"/>
          </a:p>
        </p:txBody>
      </p:sp>
      <p:sp>
        <p:nvSpPr>
          <p:cNvPr id="6" name="Text 3"/>
          <p:cNvSpPr/>
          <p:nvPr/>
        </p:nvSpPr>
        <p:spPr>
          <a:xfrm>
            <a:off x="793790" y="5862876"/>
            <a:ext cx="4224814" cy="471488"/>
          </a:xfrm>
          <a:prstGeom prst="rect">
            <a:avLst/>
          </a:prstGeom>
          <a:noFill/>
          <a:ln/>
        </p:spPr>
        <p:txBody>
          <a:bodyPr wrap="square" lIns="0" tIns="0" rIns="0" bIns="0" rtlCol="0" anchor="t"/>
          <a:lstStyle/>
          <a:p>
            <a:pPr algn="l" indent="0" marL="0">
              <a:lnSpc>
                <a:spcPts val="1850"/>
              </a:lnSpc>
              <a:buNone/>
            </a:pPr>
            <a:r>
              <a:rPr lang="en-US" sz="1150" dirty="0">
                <a:solidFill>
                  <a:srgbClr val="272525"/>
                </a:solidFill>
                <a:latin typeface="Inter" pitchFamily="34" charset="0"/>
                <a:ea typeface="Inter" pitchFamily="34" charset="-122"/>
                <a:cs typeface="Inter" pitchFamily="34" charset="-120"/>
              </a:rPr>
              <a:t>Artificial intelligence drives personalization, inventory optimization, and dynamic pricing algorithms</a:t>
            </a:r>
            <a:endParaRPr lang="en-US" sz="1150" dirty="0"/>
          </a:p>
        </p:txBody>
      </p:sp>
      <p:pic>
        <p:nvPicPr>
          <p:cNvPr id="7" name="Image 1" descr="preencoded.png">    </p:cNvPr>
          <p:cNvPicPr>
            <a:picLocks noChangeAspect="1"/>
          </p:cNvPicPr>
          <p:nvPr/>
        </p:nvPicPr>
        <p:blipFill>
          <a:blip r:embed="rId2"/>
          <a:stretch>
            <a:fillRect/>
          </a:stretch>
        </p:blipFill>
        <p:spPr>
          <a:xfrm>
            <a:off x="5202793" y="2650688"/>
            <a:ext cx="2746058" cy="2746058"/>
          </a:xfrm>
          <a:prstGeom prst="rect">
            <a:avLst/>
          </a:prstGeom>
        </p:spPr>
      </p:pic>
      <p:sp>
        <p:nvSpPr>
          <p:cNvPr id="8" name="Text 4"/>
          <p:cNvSpPr/>
          <p:nvPr/>
        </p:nvSpPr>
        <p:spPr>
          <a:xfrm>
            <a:off x="5202793" y="5544145"/>
            <a:ext cx="1842968" cy="230386"/>
          </a:xfrm>
          <a:prstGeom prst="rect">
            <a:avLst/>
          </a:prstGeom>
          <a:noFill/>
          <a:ln/>
        </p:spPr>
        <p:txBody>
          <a:bodyPr wrap="none" lIns="0" tIns="0" rIns="0" bIns="0" rtlCol="0" anchor="t"/>
          <a:lstStyle/>
          <a:p>
            <a:pPr algn="l" indent="0" marL="0">
              <a:lnSpc>
                <a:spcPts val="1800"/>
              </a:lnSpc>
              <a:buNone/>
            </a:pPr>
            <a:r>
              <a:rPr lang="en-US" sz="1450" b="1" dirty="0">
                <a:solidFill>
                  <a:srgbClr val="272525"/>
                </a:solidFill>
                <a:latin typeface="Inter Bold" pitchFamily="34" charset="0"/>
                <a:ea typeface="Inter Bold" pitchFamily="34" charset="-122"/>
                <a:cs typeface="Inter Bold" pitchFamily="34" charset="-120"/>
              </a:rPr>
              <a:t>Luxury Positioning</a:t>
            </a:r>
            <a:endParaRPr lang="en-US" sz="1450" dirty="0"/>
          </a:p>
        </p:txBody>
      </p:sp>
      <p:sp>
        <p:nvSpPr>
          <p:cNvPr id="9" name="Text 5"/>
          <p:cNvSpPr/>
          <p:nvPr/>
        </p:nvSpPr>
        <p:spPr>
          <a:xfrm>
            <a:off x="5202793" y="5862876"/>
            <a:ext cx="4224814" cy="471488"/>
          </a:xfrm>
          <a:prstGeom prst="rect">
            <a:avLst/>
          </a:prstGeom>
          <a:noFill/>
          <a:ln/>
        </p:spPr>
        <p:txBody>
          <a:bodyPr wrap="square" lIns="0" tIns="0" rIns="0" bIns="0" rtlCol="0" anchor="t"/>
          <a:lstStyle/>
          <a:p>
            <a:pPr algn="l" indent="0" marL="0">
              <a:lnSpc>
                <a:spcPts val="1850"/>
              </a:lnSpc>
              <a:buNone/>
            </a:pPr>
            <a:r>
              <a:rPr lang="en-US" sz="1150" dirty="0">
                <a:solidFill>
                  <a:srgbClr val="272525"/>
                </a:solidFill>
                <a:latin typeface="Inter" pitchFamily="34" charset="0"/>
                <a:ea typeface="Inter" pitchFamily="34" charset="-122"/>
                <a:cs typeface="Inter" pitchFamily="34" charset="-120"/>
              </a:rPr>
              <a:t>US market investments in premium segments increase, pushing average price points higher</a:t>
            </a:r>
            <a:endParaRPr lang="en-US" sz="1150" dirty="0"/>
          </a:p>
        </p:txBody>
      </p:sp>
      <p:pic>
        <p:nvPicPr>
          <p:cNvPr id="10" name="Image 2" descr="preencoded.png">    </p:cNvPr>
          <p:cNvPicPr>
            <a:picLocks noChangeAspect="1"/>
          </p:cNvPicPr>
          <p:nvPr/>
        </p:nvPicPr>
        <p:blipFill>
          <a:blip r:embed="rId3"/>
          <a:stretch>
            <a:fillRect/>
          </a:stretch>
        </p:blipFill>
        <p:spPr>
          <a:xfrm>
            <a:off x="9611797" y="2650688"/>
            <a:ext cx="2746058" cy="2746058"/>
          </a:xfrm>
          <a:prstGeom prst="rect">
            <a:avLst/>
          </a:prstGeom>
        </p:spPr>
      </p:pic>
      <p:sp>
        <p:nvSpPr>
          <p:cNvPr id="11" name="Text 6"/>
          <p:cNvSpPr/>
          <p:nvPr/>
        </p:nvSpPr>
        <p:spPr>
          <a:xfrm>
            <a:off x="9611797" y="5544145"/>
            <a:ext cx="1842968" cy="230386"/>
          </a:xfrm>
          <a:prstGeom prst="rect">
            <a:avLst/>
          </a:prstGeom>
          <a:noFill/>
          <a:ln/>
        </p:spPr>
        <p:txBody>
          <a:bodyPr wrap="none" lIns="0" tIns="0" rIns="0" bIns="0" rtlCol="0" anchor="t"/>
          <a:lstStyle/>
          <a:p>
            <a:pPr algn="l" indent="0" marL="0">
              <a:lnSpc>
                <a:spcPts val="1800"/>
              </a:lnSpc>
              <a:buNone/>
            </a:pPr>
            <a:r>
              <a:rPr lang="en-US" sz="1450" b="1" dirty="0">
                <a:solidFill>
                  <a:srgbClr val="272525"/>
                </a:solidFill>
                <a:latin typeface="Inter Bold" pitchFamily="34" charset="0"/>
                <a:ea typeface="Inter Bold" pitchFamily="34" charset="-122"/>
                <a:cs typeface="Inter Bold" pitchFamily="34" charset="-120"/>
              </a:rPr>
              <a:t>Economic Impact</a:t>
            </a:r>
            <a:endParaRPr lang="en-US" sz="1450" dirty="0"/>
          </a:p>
        </p:txBody>
      </p:sp>
      <p:sp>
        <p:nvSpPr>
          <p:cNvPr id="12" name="Text 7"/>
          <p:cNvSpPr/>
          <p:nvPr/>
        </p:nvSpPr>
        <p:spPr>
          <a:xfrm>
            <a:off x="9611797" y="5862876"/>
            <a:ext cx="4224814" cy="471488"/>
          </a:xfrm>
          <a:prstGeom prst="rect">
            <a:avLst/>
          </a:prstGeom>
          <a:noFill/>
          <a:ln/>
        </p:spPr>
        <p:txBody>
          <a:bodyPr wrap="square" lIns="0" tIns="0" rIns="0" bIns="0" rtlCol="0" anchor="t"/>
          <a:lstStyle/>
          <a:p>
            <a:pPr algn="l" indent="0" marL="0">
              <a:lnSpc>
                <a:spcPts val="1850"/>
              </a:lnSpc>
              <a:buNone/>
            </a:pPr>
            <a:r>
              <a:rPr lang="en-US" sz="1150" dirty="0">
                <a:solidFill>
                  <a:srgbClr val="272525"/>
                </a:solidFill>
                <a:latin typeface="Inter" pitchFamily="34" charset="0"/>
                <a:ea typeface="Inter" pitchFamily="34" charset="-122"/>
                <a:cs typeface="Inter" pitchFamily="34" charset="-120"/>
              </a:rPr>
              <a:t>Tariff changes and economic volatility create pricing pressure and supply chain challenges</a:t>
            </a:r>
            <a:endParaRPr lang="en-US" sz="1150" dirty="0"/>
          </a:p>
        </p:txBody>
      </p:sp>
      <p:sp>
        <p:nvSpPr>
          <p:cNvPr id="13" name="Text 8"/>
          <p:cNvSpPr/>
          <p:nvPr/>
        </p:nvSpPr>
        <p:spPr>
          <a:xfrm>
            <a:off x="793790" y="6500217"/>
            <a:ext cx="13042821" cy="471488"/>
          </a:xfrm>
          <a:prstGeom prst="rect">
            <a:avLst/>
          </a:prstGeom>
          <a:noFill/>
          <a:ln/>
        </p:spPr>
        <p:txBody>
          <a:bodyPr wrap="square" lIns="0" tIns="0" rIns="0" bIns="0" rtlCol="0" anchor="t"/>
          <a:lstStyle/>
          <a:p>
            <a:pPr algn="l" indent="0" marL="0">
              <a:lnSpc>
                <a:spcPts val="1850"/>
              </a:lnSpc>
              <a:buNone/>
            </a:pPr>
            <a:r>
              <a:rPr lang="en-US" sz="1150" dirty="0">
                <a:solidFill>
                  <a:srgbClr val="272525"/>
                </a:solidFill>
                <a:latin typeface="Inter" pitchFamily="34" charset="0"/>
                <a:ea typeface="Inter" pitchFamily="34" charset="-122"/>
                <a:cs typeface="Inter" pitchFamily="34" charset="-120"/>
              </a:rPr>
              <a:t>According to McKinsey's State of Fashion 2025 report, these trends converge to create an environment where premium positioning becomes increasingly important for brand differentiation and margin protection.</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725924"/>
            <a:ext cx="8590478" cy="460772"/>
          </a:xfrm>
          <a:prstGeom prst="rect">
            <a:avLst/>
          </a:prstGeom>
          <a:noFill/>
          <a:ln/>
        </p:spPr>
        <p:txBody>
          <a:bodyPr wrap="none" lIns="0" tIns="0" rIns="0" bIns="0" rtlCol="0" anchor="t"/>
          <a:lstStyle/>
          <a:p>
            <a:pPr algn="l" indent="0" marL="0">
              <a:lnSpc>
                <a:spcPts val="3600"/>
              </a:lnSpc>
              <a:buNone/>
            </a:pPr>
            <a:r>
              <a:rPr lang="en-US" sz="2900" b="1" dirty="0">
                <a:solidFill>
                  <a:srgbClr val="000000"/>
                </a:solidFill>
                <a:latin typeface="Inter Bold" pitchFamily="34" charset="0"/>
                <a:ea typeface="Inter Bold" pitchFamily="34" charset="-122"/>
                <a:cs typeface="Inter Bold" pitchFamily="34" charset="-120"/>
              </a:rPr>
              <a:t>Seasonal Pricing Dynamics in Women's Fashion</a:t>
            </a:r>
            <a:endParaRPr lang="en-US" sz="2900" dirty="0"/>
          </a:p>
        </p:txBody>
      </p:sp>
      <p:sp>
        <p:nvSpPr>
          <p:cNvPr id="3" name="Text 1"/>
          <p:cNvSpPr/>
          <p:nvPr/>
        </p:nvSpPr>
        <p:spPr>
          <a:xfrm>
            <a:off x="793790" y="1481495"/>
            <a:ext cx="13042821" cy="471488"/>
          </a:xfrm>
          <a:prstGeom prst="rect">
            <a:avLst/>
          </a:prstGeom>
          <a:noFill/>
          <a:ln/>
        </p:spPr>
        <p:txBody>
          <a:bodyPr wrap="square" lIns="0" tIns="0" rIns="0" bIns="0" rtlCol="0" anchor="t"/>
          <a:lstStyle/>
          <a:p>
            <a:pPr algn="l" indent="0" marL="0">
              <a:lnSpc>
                <a:spcPts val="1850"/>
              </a:lnSpc>
              <a:buNone/>
            </a:pPr>
            <a:r>
              <a:rPr lang="en-US" sz="1150" dirty="0">
                <a:solidFill>
                  <a:srgbClr val="272525"/>
                </a:solidFill>
                <a:latin typeface="Inter" pitchFamily="34" charset="0"/>
                <a:ea typeface="Inter" pitchFamily="34" charset="-122"/>
                <a:cs typeface="Inter" pitchFamily="34" charset="-120"/>
              </a:rPr>
              <a:t>Seasonality represents one of the most significant drivers of price variation in women's clothing. The stark differences between winter and summer collections reflect material costs, design complexity, and consumer demand patterns.</a:t>
            </a:r>
            <a:endParaRPr lang="en-US" sz="1150" dirty="0"/>
          </a:p>
        </p:txBody>
      </p:sp>
      <p:pic>
        <p:nvPicPr>
          <p:cNvPr id="4" name="Image 0" descr="preencoded.png">    </p:cNvPr>
          <p:cNvPicPr>
            <a:picLocks noChangeAspect="1"/>
          </p:cNvPicPr>
          <p:nvPr/>
        </p:nvPicPr>
        <p:blipFill>
          <a:blip r:embed="rId1"/>
          <a:stretch>
            <a:fillRect/>
          </a:stretch>
        </p:blipFill>
        <p:spPr>
          <a:xfrm>
            <a:off x="793790" y="2118836"/>
            <a:ext cx="8477726" cy="4305181"/>
          </a:xfrm>
          <a:prstGeom prst="rect">
            <a:avLst/>
          </a:prstGeom>
        </p:spPr>
      </p:pic>
      <p:sp>
        <p:nvSpPr>
          <p:cNvPr id="5" name="Shape 2"/>
          <p:cNvSpPr/>
          <p:nvPr/>
        </p:nvSpPr>
        <p:spPr>
          <a:xfrm>
            <a:off x="3769043" y="6424017"/>
            <a:ext cx="147399" cy="147399"/>
          </a:xfrm>
          <a:prstGeom prst="roundRect">
            <a:avLst>
              <a:gd name="adj" fmla="val 12407"/>
            </a:avLst>
          </a:prstGeom>
          <a:solidFill>
            <a:srgbClr val="151738"/>
          </a:solidFill>
          <a:ln/>
        </p:spPr>
      </p:sp>
      <p:sp>
        <p:nvSpPr>
          <p:cNvPr id="6" name="Text 3"/>
          <p:cNvSpPr/>
          <p:nvPr/>
        </p:nvSpPr>
        <p:spPr>
          <a:xfrm>
            <a:off x="3977402" y="6424017"/>
            <a:ext cx="979051" cy="147399"/>
          </a:xfrm>
          <a:prstGeom prst="rect">
            <a:avLst/>
          </a:prstGeom>
          <a:noFill/>
          <a:ln/>
        </p:spPr>
        <p:txBody>
          <a:bodyPr wrap="none" lIns="0" tIns="0" rIns="0" bIns="0" rtlCol="0" anchor="t"/>
          <a:lstStyle/>
          <a:p>
            <a:pPr algn="l" indent="0" marL="0">
              <a:lnSpc>
                <a:spcPts val="1150"/>
              </a:lnSpc>
              <a:buNone/>
            </a:pPr>
            <a:r>
              <a:rPr lang="en-US" sz="1150" dirty="0">
                <a:solidFill>
                  <a:srgbClr val="272525"/>
                </a:solidFill>
                <a:latin typeface="Inter" pitchFamily="34" charset="0"/>
                <a:ea typeface="Inter" pitchFamily="34" charset="-122"/>
                <a:cs typeface="Inter" pitchFamily="34" charset="-120"/>
              </a:rPr>
              <a:t>Summer Price</a:t>
            </a:r>
            <a:endParaRPr lang="en-US" sz="1150" dirty="0"/>
          </a:p>
        </p:txBody>
      </p:sp>
      <p:sp>
        <p:nvSpPr>
          <p:cNvPr id="7" name="Shape 4"/>
          <p:cNvSpPr/>
          <p:nvPr/>
        </p:nvSpPr>
        <p:spPr>
          <a:xfrm>
            <a:off x="5108853" y="6424017"/>
            <a:ext cx="147399" cy="147399"/>
          </a:xfrm>
          <a:prstGeom prst="roundRect">
            <a:avLst>
              <a:gd name="adj" fmla="val 12407"/>
            </a:avLst>
          </a:prstGeom>
          <a:solidFill>
            <a:srgbClr val="393F9B"/>
          </a:solidFill>
          <a:ln/>
        </p:spPr>
      </p:sp>
      <p:sp>
        <p:nvSpPr>
          <p:cNvPr id="8" name="Text 5"/>
          <p:cNvSpPr/>
          <p:nvPr/>
        </p:nvSpPr>
        <p:spPr>
          <a:xfrm>
            <a:off x="5317212" y="6424017"/>
            <a:ext cx="853916" cy="147399"/>
          </a:xfrm>
          <a:prstGeom prst="rect">
            <a:avLst/>
          </a:prstGeom>
          <a:noFill/>
          <a:ln/>
        </p:spPr>
        <p:txBody>
          <a:bodyPr wrap="none" lIns="0" tIns="0" rIns="0" bIns="0" rtlCol="0" anchor="t"/>
          <a:lstStyle/>
          <a:p>
            <a:pPr algn="l" indent="0" marL="0">
              <a:lnSpc>
                <a:spcPts val="1150"/>
              </a:lnSpc>
              <a:buNone/>
            </a:pPr>
            <a:r>
              <a:rPr lang="en-US" sz="1150" dirty="0">
                <a:solidFill>
                  <a:srgbClr val="272525"/>
                </a:solidFill>
                <a:latin typeface="Inter" pitchFamily="34" charset="0"/>
                <a:ea typeface="Inter" pitchFamily="34" charset="-122"/>
                <a:cs typeface="Inter" pitchFamily="34" charset="-120"/>
              </a:rPr>
              <a:t>Winter Price</a:t>
            </a:r>
            <a:endParaRPr lang="en-US" sz="1150" dirty="0"/>
          </a:p>
        </p:txBody>
      </p:sp>
      <p:sp>
        <p:nvSpPr>
          <p:cNvPr id="9" name="Text 6"/>
          <p:cNvSpPr/>
          <p:nvPr/>
        </p:nvSpPr>
        <p:spPr>
          <a:xfrm>
            <a:off x="793790" y="7032188"/>
            <a:ext cx="13042821" cy="471488"/>
          </a:xfrm>
          <a:prstGeom prst="rect">
            <a:avLst/>
          </a:prstGeom>
          <a:noFill/>
          <a:ln/>
        </p:spPr>
        <p:txBody>
          <a:bodyPr wrap="square" lIns="0" tIns="0" rIns="0" bIns="0" rtlCol="0" anchor="t"/>
          <a:lstStyle/>
          <a:p>
            <a:pPr algn="l" indent="0" marL="0">
              <a:lnSpc>
                <a:spcPts val="1850"/>
              </a:lnSpc>
              <a:buNone/>
            </a:pPr>
            <a:r>
              <a:rPr lang="en-US" sz="1150" dirty="0">
                <a:solidFill>
                  <a:srgbClr val="272525"/>
                </a:solidFill>
                <a:latin typeface="Inter" pitchFamily="34" charset="0"/>
                <a:ea typeface="Inter" pitchFamily="34" charset="-122"/>
                <a:cs typeface="Inter" pitchFamily="34" charset="-120"/>
              </a:rPr>
              <a:t>Winter apparel commands approximately 50% higher prices than summer items, driven by heavier materials like wool and synthetic insulation versus lightweight cotton and silk. The holiday shopping season generates up to 60% of annual online sales, creating additional pricing leverage for retailers during peak winter months.</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1842968"/>
          </a:xfrm>
          <a:prstGeom prst="rect">
            <a:avLst/>
          </a:prstGeom>
        </p:spPr>
      </p:pic>
      <p:sp>
        <p:nvSpPr>
          <p:cNvPr id="3" name="Text 0"/>
          <p:cNvSpPr/>
          <p:nvPr/>
        </p:nvSpPr>
        <p:spPr>
          <a:xfrm>
            <a:off x="793790" y="2787015"/>
            <a:ext cx="8108871" cy="460772"/>
          </a:xfrm>
          <a:prstGeom prst="rect">
            <a:avLst/>
          </a:prstGeom>
          <a:noFill/>
          <a:ln/>
        </p:spPr>
        <p:txBody>
          <a:bodyPr wrap="none" lIns="0" tIns="0" rIns="0" bIns="0" rtlCol="0" anchor="t"/>
          <a:lstStyle/>
          <a:p>
            <a:pPr algn="l" indent="0" marL="0">
              <a:lnSpc>
                <a:spcPts val="3600"/>
              </a:lnSpc>
              <a:buNone/>
            </a:pPr>
            <a:r>
              <a:rPr lang="en-US" sz="2900" b="1" dirty="0">
                <a:solidFill>
                  <a:srgbClr val="000000"/>
                </a:solidFill>
                <a:latin typeface="Inter Bold" pitchFamily="34" charset="0"/>
                <a:ea typeface="Inter Bold" pitchFamily="34" charset="-122"/>
                <a:cs typeface="Inter Bold" pitchFamily="34" charset="-120"/>
              </a:rPr>
              <a:t>Strategic Pricing Models in Women's Fashion</a:t>
            </a:r>
            <a:endParaRPr lang="en-US" sz="2900" dirty="0"/>
          </a:p>
        </p:txBody>
      </p:sp>
      <p:sp>
        <p:nvSpPr>
          <p:cNvPr id="4" name="Text 1"/>
          <p:cNvSpPr/>
          <p:nvPr/>
        </p:nvSpPr>
        <p:spPr>
          <a:xfrm>
            <a:off x="793790" y="3601522"/>
            <a:ext cx="6341626" cy="707231"/>
          </a:xfrm>
          <a:prstGeom prst="rect">
            <a:avLst/>
          </a:prstGeom>
          <a:noFill/>
          <a:ln/>
        </p:spPr>
        <p:txBody>
          <a:bodyPr wrap="square" lIns="0" tIns="0" rIns="0" bIns="0" rtlCol="0" anchor="t"/>
          <a:lstStyle/>
          <a:p>
            <a:pPr algn="l" indent="0" marL="0">
              <a:lnSpc>
                <a:spcPts val="1850"/>
              </a:lnSpc>
              <a:buNone/>
            </a:pPr>
            <a:r>
              <a:rPr lang="en-US" sz="1150" dirty="0">
                <a:solidFill>
                  <a:srgbClr val="272525"/>
                </a:solidFill>
                <a:latin typeface="Inter" pitchFamily="34" charset="0"/>
                <a:ea typeface="Inter" pitchFamily="34" charset="-122"/>
                <a:cs typeface="Inter" pitchFamily="34" charset="-120"/>
              </a:rPr>
              <a:t>Retailers employ three primary wholesale pricing strategies, each designed to maximize margins while responding to different market segments and competitive pressures. The choice of strategy significantly impacts final consumer prices and brand positioning.</a:t>
            </a:r>
            <a:endParaRPr lang="en-US" sz="1150" dirty="0"/>
          </a:p>
        </p:txBody>
      </p:sp>
      <p:sp>
        <p:nvSpPr>
          <p:cNvPr id="5" name="Text 2"/>
          <p:cNvSpPr/>
          <p:nvPr/>
        </p:nvSpPr>
        <p:spPr>
          <a:xfrm>
            <a:off x="793790" y="4441388"/>
            <a:ext cx="6341626" cy="707231"/>
          </a:xfrm>
          <a:prstGeom prst="rect">
            <a:avLst/>
          </a:prstGeom>
          <a:noFill/>
          <a:ln/>
        </p:spPr>
        <p:txBody>
          <a:bodyPr wrap="square" lIns="0" tIns="0" rIns="0" bIns="0" rtlCol="0" anchor="t"/>
          <a:lstStyle/>
          <a:p>
            <a:pPr algn="l" indent="0" marL="0">
              <a:lnSpc>
                <a:spcPts val="1850"/>
              </a:lnSpc>
              <a:buNone/>
            </a:pPr>
            <a:r>
              <a:rPr lang="en-US" sz="1150" dirty="0">
                <a:solidFill>
                  <a:srgbClr val="272525"/>
                </a:solidFill>
                <a:latin typeface="Inter" pitchFamily="34" charset="0"/>
                <a:ea typeface="Inter" pitchFamily="34" charset="-122"/>
                <a:cs typeface="Inter" pitchFamily="34" charset="-120"/>
              </a:rPr>
              <a:t>In 2025, value-based pricing dominates the luxury segment, where perceived exclusivity justifies substantial premiums. Meanwhile, fast fashion brands rely on cost-plus models to maintain aggressive pricing while preserving margins on high-volume sales.</a:t>
            </a:r>
            <a:endParaRPr lang="en-US" sz="1150" dirty="0"/>
          </a:p>
        </p:txBody>
      </p:sp>
      <p:sp>
        <p:nvSpPr>
          <p:cNvPr id="6" name="Text 3"/>
          <p:cNvSpPr/>
          <p:nvPr/>
        </p:nvSpPr>
        <p:spPr>
          <a:xfrm>
            <a:off x="7502604" y="3634740"/>
            <a:ext cx="147399" cy="184190"/>
          </a:xfrm>
          <a:prstGeom prst="rect">
            <a:avLst/>
          </a:prstGeom>
          <a:noFill/>
          <a:ln/>
        </p:spPr>
        <p:txBody>
          <a:bodyPr wrap="none" lIns="0" tIns="0" rIns="0" bIns="0" rtlCol="0" anchor="t"/>
          <a:lstStyle/>
          <a:p>
            <a:pPr algn="l" indent="0" marL="0">
              <a:lnSpc>
                <a:spcPts val="1850"/>
              </a:lnSpc>
              <a:buNone/>
            </a:pPr>
            <a:r>
              <a:rPr lang="en-US" sz="1150" dirty="0">
                <a:solidFill>
                  <a:srgbClr val="272525"/>
                </a:solidFill>
                <a:latin typeface="Inter Light" pitchFamily="34" charset="0"/>
                <a:ea typeface="Inter Light" pitchFamily="34" charset="-122"/>
                <a:cs typeface="Inter Light" pitchFamily="34" charset="-120"/>
              </a:rPr>
              <a:t>01</a:t>
            </a:r>
            <a:endParaRPr lang="en-US" sz="1150" dirty="0"/>
          </a:p>
        </p:txBody>
      </p:sp>
      <p:sp>
        <p:nvSpPr>
          <p:cNvPr id="7" name="Shape 4"/>
          <p:cNvSpPr/>
          <p:nvPr/>
        </p:nvSpPr>
        <p:spPr>
          <a:xfrm>
            <a:off x="7502604" y="3869888"/>
            <a:ext cx="6341626" cy="15240"/>
          </a:xfrm>
          <a:prstGeom prst="rect">
            <a:avLst/>
          </a:prstGeom>
          <a:solidFill>
            <a:srgbClr val="4950BC"/>
          </a:solidFill>
          <a:ln/>
        </p:spPr>
      </p:sp>
      <p:sp>
        <p:nvSpPr>
          <p:cNvPr id="8" name="Text 5"/>
          <p:cNvSpPr/>
          <p:nvPr/>
        </p:nvSpPr>
        <p:spPr>
          <a:xfrm>
            <a:off x="7502604" y="3974068"/>
            <a:ext cx="1842968" cy="230386"/>
          </a:xfrm>
          <a:prstGeom prst="rect">
            <a:avLst/>
          </a:prstGeom>
          <a:noFill/>
          <a:ln/>
        </p:spPr>
        <p:txBody>
          <a:bodyPr wrap="none" lIns="0" tIns="0" rIns="0" bIns="0" rtlCol="0" anchor="t"/>
          <a:lstStyle/>
          <a:p>
            <a:pPr algn="l" indent="0" marL="0">
              <a:lnSpc>
                <a:spcPts val="1800"/>
              </a:lnSpc>
              <a:buNone/>
            </a:pPr>
            <a:r>
              <a:rPr lang="en-US" sz="1450" b="1" dirty="0">
                <a:solidFill>
                  <a:srgbClr val="272525"/>
                </a:solidFill>
                <a:latin typeface="Inter Bold" pitchFamily="34" charset="0"/>
                <a:ea typeface="Inter Bold" pitchFamily="34" charset="-122"/>
                <a:cs typeface="Inter Bold" pitchFamily="34" charset="-120"/>
              </a:rPr>
              <a:t>Cost-Plus Pricing</a:t>
            </a:r>
            <a:endParaRPr lang="en-US" sz="1450" dirty="0"/>
          </a:p>
        </p:txBody>
      </p:sp>
      <p:sp>
        <p:nvSpPr>
          <p:cNvPr id="9" name="Text 6"/>
          <p:cNvSpPr/>
          <p:nvPr/>
        </p:nvSpPr>
        <p:spPr>
          <a:xfrm>
            <a:off x="7502604" y="4351853"/>
            <a:ext cx="6341626" cy="235744"/>
          </a:xfrm>
          <a:prstGeom prst="rect">
            <a:avLst/>
          </a:prstGeom>
          <a:noFill/>
          <a:ln/>
        </p:spPr>
        <p:txBody>
          <a:bodyPr wrap="none" lIns="0" tIns="0" rIns="0" bIns="0" rtlCol="0" anchor="t"/>
          <a:lstStyle/>
          <a:p>
            <a:pPr algn="l" indent="0" marL="0">
              <a:lnSpc>
                <a:spcPts val="1850"/>
              </a:lnSpc>
              <a:buNone/>
            </a:pPr>
            <a:r>
              <a:rPr lang="en-US" sz="1150" dirty="0">
                <a:solidFill>
                  <a:srgbClr val="272525"/>
                </a:solidFill>
                <a:latin typeface="Inter" pitchFamily="34" charset="0"/>
                <a:ea typeface="Inter" pitchFamily="34" charset="-122"/>
                <a:cs typeface="Inter" pitchFamily="34" charset="-120"/>
              </a:rPr>
              <a:t>Standard markup on production costs, common in mid-market segments</a:t>
            </a:r>
            <a:endParaRPr lang="en-US" sz="1150" dirty="0"/>
          </a:p>
        </p:txBody>
      </p:sp>
      <p:sp>
        <p:nvSpPr>
          <p:cNvPr id="10" name="Text 7"/>
          <p:cNvSpPr/>
          <p:nvPr/>
        </p:nvSpPr>
        <p:spPr>
          <a:xfrm>
            <a:off x="7502604" y="4845487"/>
            <a:ext cx="147399" cy="184190"/>
          </a:xfrm>
          <a:prstGeom prst="rect">
            <a:avLst/>
          </a:prstGeom>
          <a:noFill/>
          <a:ln/>
        </p:spPr>
        <p:txBody>
          <a:bodyPr wrap="none" lIns="0" tIns="0" rIns="0" bIns="0" rtlCol="0" anchor="t"/>
          <a:lstStyle/>
          <a:p>
            <a:pPr algn="l" indent="0" marL="0">
              <a:lnSpc>
                <a:spcPts val="1850"/>
              </a:lnSpc>
              <a:buNone/>
            </a:pPr>
            <a:r>
              <a:rPr lang="en-US" sz="1150" dirty="0">
                <a:solidFill>
                  <a:srgbClr val="272525"/>
                </a:solidFill>
                <a:latin typeface="Inter Light" pitchFamily="34" charset="0"/>
                <a:ea typeface="Inter Light" pitchFamily="34" charset="-122"/>
                <a:cs typeface="Inter Light" pitchFamily="34" charset="-120"/>
              </a:rPr>
              <a:t>02</a:t>
            </a:r>
            <a:endParaRPr lang="en-US" sz="1150" dirty="0"/>
          </a:p>
        </p:txBody>
      </p:sp>
      <p:sp>
        <p:nvSpPr>
          <p:cNvPr id="11" name="Shape 8"/>
          <p:cNvSpPr/>
          <p:nvPr/>
        </p:nvSpPr>
        <p:spPr>
          <a:xfrm>
            <a:off x="7502604" y="5080635"/>
            <a:ext cx="6341626" cy="15240"/>
          </a:xfrm>
          <a:prstGeom prst="rect">
            <a:avLst/>
          </a:prstGeom>
          <a:solidFill>
            <a:srgbClr val="4950BC"/>
          </a:solidFill>
          <a:ln/>
        </p:spPr>
      </p:sp>
      <p:sp>
        <p:nvSpPr>
          <p:cNvPr id="12" name="Text 9"/>
          <p:cNvSpPr/>
          <p:nvPr/>
        </p:nvSpPr>
        <p:spPr>
          <a:xfrm>
            <a:off x="7502604" y="5184815"/>
            <a:ext cx="1842968" cy="230386"/>
          </a:xfrm>
          <a:prstGeom prst="rect">
            <a:avLst/>
          </a:prstGeom>
          <a:noFill/>
          <a:ln/>
        </p:spPr>
        <p:txBody>
          <a:bodyPr wrap="none" lIns="0" tIns="0" rIns="0" bIns="0" rtlCol="0" anchor="t"/>
          <a:lstStyle/>
          <a:p>
            <a:pPr algn="l" indent="0" marL="0">
              <a:lnSpc>
                <a:spcPts val="1800"/>
              </a:lnSpc>
              <a:buNone/>
            </a:pPr>
            <a:r>
              <a:rPr lang="en-US" sz="1450" b="1" dirty="0">
                <a:solidFill>
                  <a:srgbClr val="272525"/>
                </a:solidFill>
                <a:latin typeface="Inter Bold" pitchFamily="34" charset="0"/>
                <a:ea typeface="Inter Bold" pitchFamily="34" charset="-122"/>
                <a:cs typeface="Inter Bold" pitchFamily="34" charset="-120"/>
              </a:rPr>
              <a:t>Value-Based Pricing</a:t>
            </a:r>
            <a:endParaRPr lang="en-US" sz="1450" dirty="0"/>
          </a:p>
        </p:txBody>
      </p:sp>
      <p:sp>
        <p:nvSpPr>
          <p:cNvPr id="13" name="Text 10"/>
          <p:cNvSpPr/>
          <p:nvPr/>
        </p:nvSpPr>
        <p:spPr>
          <a:xfrm>
            <a:off x="7502604" y="5562600"/>
            <a:ext cx="6341626" cy="235744"/>
          </a:xfrm>
          <a:prstGeom prst="rect">
            <a:avLst/>
          </a:prstGeom>
          <a:noFill/>
          <a:ln/>
        </p:spPr>
        <p:txBody>
          <a:bodyPr wrap="none" lIns="0" tIns="0" rIns="0" bIns="0" rtlCol="0" anchor="t"/>
          <a:lstStyle/>
          <a:p>
            <a:pPr algn="l" indent="0" marL="0">
              <a:lnSpc>
                <a:spcPts val="1850"/>
              </a:lnSpc>
              <a:buNone/>
            </a:pPr>
            <a:r>
              <a:rPr lang="en-US" sz="1150" dirty="0">
                <a:solidFill>
                  <a:srgbClr val="272525"/>
                </a:solidFill>
                <a:latin typeface="Inter" pitchFamily="34" charset="0"/>
                <a:ea typeface="Inter" pitchFamily="34" charset="-122"/>
                <a:cs typeface="Inter" pitchFamily="34" charset="-120"/>
              </a:rPr>
              <a:t>Premium positioning focused on perceived luxury and exclusivity</a:t>
            </a:r>
            <a:endParaRPr lang="en-US" sz="1150" dirty="0"/>
          </a:p>
        </p:txBody>
      </p:sp>
      <p:sp>
        <p:nvSpPr>
          <p:cNvPr id="14" name="Text 11"/>
          <p:cNvSpPr/>
          <p:nvPr/>
        </p:nvSpPr>
        <p:spPr>
          <a:xfrm>
            <a:off x="7502604" y="6056233"/>
            <a:ext cx="147399" cy="184190"/>
          </a:xfrm>
          <a:prstGeom prst="rect">
            <a:avLst/>
          </a:prstGeom>
          <a:noFill/>
          <a:ln/>
        </p:spPr>
        <p:txBody>
          <a:bodyPr wrap="none" lIns="0" tIns="0" rIns="0" bIns="0" rtlCol="0" anchor="t"/>
          <a:lstStyle/>
          <a:p>
            <a:pPr algn="l" indent="0" marL="0">
              <a:lnSpc>
                <a:spcPts val="1850"/>
              </a:lnSpc>
              <a:buNone/>
            </a:pPr>
            <a:r>
              <a:rPr lang="en-US" sz="1150" dirty="0">
                <a:solidFill>
                  <a:srgbClr val="272525"/>
                </a:solidFill>
                <a:latin typeface="Inter Light" pitchFamily="34" charset="0"/>
                <a:ea typeface="Inter Light" pitchFamily="34" charset="-122"/>
                <a:cs typeface="Inter Light" pitchFamily="34" charset="-120"/>
              </a:rPr>
              <a:t>03</a:t>
            </a:r>
            <a:endParaRPr lang="en-US" sz="1150" dirty="0"/>
          </a:p>
        </p:txBody>
      </p:sp>
      <p:sp>
        <p:nvSpPr>
          <p:cNvPr id="15" name="Shape 12"/>
          <p:cNvSpPr/>
          <p:nvPr/>
        </p:nvSpPr>
        <p:spPr>
          <a:xfrm>
            <a:off x="7502604" y="6291382"/>
            <a:ext cx="6341626" cy="15240"/>
          </a:xfrm>
          <a:prstGeom prst="rect">
            <a:avLst/>
          </a:prstGeom>
          <a:solidFill>
            <a:srgbClr val="4950BC"/>
          </a:solidFill>
          <a:ln/>
        </p:spPr>
      </p:sp>
      <p:sp>
        <p:nvSpPr>
          <p:cNvPr id="16" name="Text 13"/>
          <p:cNvSpPr/>
          <p:nvPr/>
        </p:nvSpPr>
        <p:spPr>
          <a:xfrm>
            <a:off x="7502604" y="6395561"/>
            <a:ext cx="2329458" cy="230386"/>
          </a:xfrm>
          <a:prstGeom prst="rect">
            <a:avLst/>
          </a:prstGeom>
          <a:noFill/>
          <a:ln/>
        </p:spPr>
        <p:txBody>
          <a:bodyPr wrap="none" lIns="0" tIns="0" rIns="0" bIns="0" rtlCol="0" anchor="t"/>
          <a:lstStyle/>
          <a:p>
            <a:pPr algn="l" indent="0" marL="0">
              <a:lnSpc>
                <a:spcPts val="1800"/>
              </a:lnSpc>
              <a:buNone/>
            </a:pPr>
            <a:r>
              <a:rPr lang="en-US" sz="1450" b="1" dirty="0">
                <a:solidFill>
                  <a:srgbClr val="272525"/>
                </a:solidFill>
                <a:latin typeface="Inter Bold" pitchFamily="34" charset="0"/>
                <a:ea typeface="Inter Bold" pitchFamily="34" charset="-122"/>
                <a:cs typeface="Inter Bold" pitchFamily="34" charset="-120"/>
              </a:rPr>
              <a:t>Competitor-Based Pricing</a:t>
            </a:r>
            <a:endParaRPr lang="en-US" sz="1450" dirty="0"/>
          </a:p>
        </p:txBody>
      </p:sp>
      <p:sp>
        <p:nvSpPr>
          <p:cNvPr id="17" name="Text 14"/>
          <p:cNvSpPr/>
          <p:nvPr/>
        </p:nvSpPr>
        <p:spPr>
          <a:xfrm>
            <a:off x="7502604" y="6773347"/>
            <a:ext cx="6341626" cy="235744"/>
          </a:xfrm>
          <a:prstGeom prst="rect">
            <a:avLst/>
          </a:prstGeom>
          <a:noFill/>
          <a:ln/>
        </p:spPr>
        <p:txBody>
          <a:bodyPr wrap="none" lIns="0" tIns="0" rIns="0" bIns="0" rtlCol="0" anchor="t"/>
          <a:lstStyle/>
          <a:p>
            <a:pPr algn="l" indent="0" marL="0">
              <a:lnSpc>
                <a:spcPts val="1850"/>
              </a:lnSpc>
              <a:buNone/>
            </a:pPr>
            <a:r>
              <a:rPr lang="en-US" sz="1150" dirty="0">
                <a:solidFill>
                  <a:srgbClr val="272525"/>
                </a:solidFill>
                <a:latin typeface="Inter" pitchFamily="34" charset="0"/>
                <a:ea typeface="Inter" pitchFamily="34" charset="-122"/>
                <a:cs typeface="Inter" pitchFamily="34" charset="-120"/>
              </a:rPr>
              <a:t>Market matching strategies that respond to rival pricing moves</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2288738"/>
            <a:ext cx="9009578" cy="460772"/>
          </a:xfrm>
          <a:prstGeom prst="rect">
            <a:avLst/>
          </a:prstGeom>
          <a:noFill/>
          <a:ln/>
        </p:spPr>
        <p:txBody>
          <a:bodyPr wrap="none" lIns="0" tIns="0" rIns="0" bIns="0" rtlCol="0" anchor="t"/>
          <a:lstStyle/>
          <a:p>
            <a:pPr algn="l" indent="0" marL="0">
              <a:lnSpc>
                <a:spcPts val="3600"/>
              </a:lnSpc>
              <a:buNone/>
            </a:pPr>
            <a:r>
              <a:rPr lang="en-US" sz="2900" b="1" dirty="0">
                <a:solidFill>
                  <a:srgbClr val="000000"/>
                </a:solidFill>
                <a:latin typeface="Inter Bold" pitchFamily="34" charset="0"/>
                <a:ea typeface="Inter Bold" pitchFamily="34" charset="-122"/>
                <a:cs typeface="Inter Bold" pitchFamily="34" charset="-120"/>
              </a:rPr>
              <a:t>Marketing Innovation Driving Premium Positioning</a:t>
            </a:r>
            <a:endParaRPr lang="en-US" sz="2900" dirty="0"/>
          </a:p>
        </p:txBody>
      </p:sp>
      <p:sp>
        <p:nvSpPr>
          <p:cNvPr id="3" name="Text 1"/>
          <p:cNvSpPr/>
          <p:nvPr/>
        </p:nvSpPr>
        <p:spPr>
          <a:xfrm>
            <a:off x="793790" y="3044309"/>
            <a:ext cx="13042821" cy="471488"/>
          </a:xfrm>
          <a:prstGeom prst="rect">
            <a:avLst/>
          </a:prstGeom>
          <a:noFill/>
          <a:ln/>
        </p:spPr>
        <p:txBody>
          <a:bodyPr wrap="square" lIns="0" tIns="0" rIns="0" bIns="0" rtlCol="0" anchor="t"/>
          <a:lstStyle/>
          <a:p>
            <a:pPr algn="l" indent="0" marL="0">
              <a:lnSpc>
                <a:spcPts val="1850"/>
              </a:lnSpc>
              <a:buNone/>
            </a:pPr>
            <a:r>
              <a:rPr lang="en-US" sz="1150" dirty="0">
                <a:solidFill>
                  <a:srgbClr val="272525"/>
                </a:solidFill>
                <a:latin typeface="Inter" pitchFamily="34" charset="0"/>
                <a:ea typeface="Inter" pitchFamily="34" charset="-122"/>
                <a:cs typeface="Inter" pitchFamily="34" charset="-120"/>
              </a:rPr>
              <a:t>Contemporary marketing strategies in women's fashion leverage cutting-edge technology and social platforms to create compelling narratives that justify premium pricing. These innovations fundamentally reshape how brands connect with consumers and establish value propositions.</a:t>
            </a:r>
            <a:endParaRPr lang="en-US" sz="115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93790" y="3681651"/>
            <a:ext cx="442198" cy="442198"/>
          </a:xfrm>
          <a:prstGeom prst="rect">
            <a:avLst/>
          </a:prstGeom>
        </p:spPr>
      </p:pic>
      <p:sp>
        <p:nvSpPr>
          <p:cNvPr id="5" name="Text 2"/>
          <p:cNvSpPr/>
          <p:nvPr/>
        </p:nvSpPr>
        <p:spPr>
          <a:xfrm>
            <a:off x="1420178" y="3805952"/>
            <a:ext cx="2306836" cy="230386"/>
          </a:xfrm>
          <a:prstGeom prst="rect">
            <a:avLst/>
          </a:prstGeom>
          <a:noFill/>
          <a:ln/>
        </p:spPr>
        <p:txBody>
          <a:bodyPr wrap="none" lIns="0" tIns="0" rIns="0" bIns="0" rtlCol="0" anchor="t"/>
          <a:lstStyle/>
          <a:p>
            <a:pPr algn="l" indent="0" marL="0">
              <a:lnSpc>
                <a:spcPts val="1800"/>
              </a:lnSpc>
              <a:buNone/>
            </a:pPr>
            <a:r>
              <a:rPr lang="en-US" sz="1450" b="1" dirty="0">
                <a:solidFill>
                  <a:srgbClr val="272525"/>
                </a:solidFill>
                <a:latin typeface="Inter Bold" pitchFamily="34" charset="0"/>
                <a:ea typeface="Inter Bold" pitchFamily="34" charset="-122"/>
                <a:cs typeface="Inter Bold" pitchFamily="34" charset="-120"/>
              </a:rPr>
              <a:t>AI-Driven Personalization</a:t>
            </a:r>
            <a:endParaRPr lang="en-US" sz="1450" dirty="0"/>
          </a:p>
        </p:txBody>
      </p:sp>
      <p:sp>
        <p:nvSpPr>
          <p:cNvPr id="6" name="Text 3"/>
          <p:cNvSpPr/>
          <p:nvPr/>
        </p:nvSpPr>
        <p:spPr>
          <a:xfrm>
            <a:off x="1420178" y="4124682"/>
            <a:ext cx="3598426" cy="1178719"/>
          </a:xfrm>
          <a:prstGeom prst="rect">
            <a:avLst/>
          </a:prstGeom>
          <a:noFill/>
          <a:ln/>
        </p:spPr>
        <p:txBody>
          <a:bodyPr wrap="square" lIns="0" tIns="0" rIns="0" bIns="0" rtlCol="0" anchor="t"/>
          <a:lstStyle/>
          <a:p>
            <a:pPr algn="l" indent="0" marL="0">
              <a:lnSpc>
                <a:spcPts val="1850"/>
              </a:lnSpc>
              <a:buNone/>
            </a:pPr>
            <a:r>
              <a:rPr lang="en-US" sz="1150" dirty="0">
                <a:solidFill>
                  <a:srgbClr val="272525"/>
                </a:solidFill>
                <a:latin typeface="Inter" pitchFamily="34" charset="0"/>
                <a:ea typeface="Inter" pitchFamily="34" charset="-122"/>
                <a:cs typeface="Inter" pitchFamily="34" charset="-120"/>
              </a:rPr>
              <a:t>Machine learning algorithms analyze individual preferences, purchase history, and browsing behavior to deliver tailored product recommendations and dynamic pricing that maximizes conversion rates</a:t>
            </a:r>
            <a:endParaRPr lang="en-US" sz="115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02793" y="3681651"/>
            <a:ext cx="442198" cy="442198"/>
          </a:xfrm>
          <a:prstGeom prst="rect">
            <a:avLst/>
          </a:prstGeom>
        </p:spPr>
      </p:pic>
      <p:sp>
        <p:nvSpPr>
          <p:cNvPr id="8" name="Text 4"/>
          <p:cNvSpPr/>
          <p:nvPr/>
        </p:nvSpPr>
        <p:spPr>
          <a:xfrm>
            <a:off x="5829181" y="3805952"/>
            <a:ext cx="2179201" cy="230386"/>
          </a:xfrm>
          <a:prstGeom prst="rect">
            <a:avLst/>
          </a:prstGeom>
          <a:noFill/>
          <a:ln/>
        </p:spPr>
        <p:txBody>
          <a:bodyPr wrap="none" lIns="0" tIns="0" rIns="0" bIns="0" rtlCol="0" anchor="t"/>
          <a:lstStyle/>
          <a:p>
            <a:pPr algn="l" indent="0" marL="0">
              <a:lnSpc>
                <a:spcPts val="1800"/>
              </a:lnSpc>
              <a:buNone/>
            </a:pPr>
            <a:r>
              <a:rPr lang="en-US" sz="1450" b="1" dirty="0">
                <a:solidFill>
                  <a:srgbClr val="272525"/>
                </a:solidFill>
                <a:latin typeface="Inter Bold" pitchFamily="34" charset="0"/>
                <a:ea typeface="Inter Bold" pitchFamily="34" charset="-122"/>
                <a:cs typeface="Inter Bold" pitchFamily="34" charset="-120"/>
              </a:rPr>
              <a:t>Creator-Led Storytelling</a:t>
            </a:r>
            <a:endParaRPr lang="en-US" sz="1450" dirty="0"/>
          </a:p>
        </p:txBody>
      </p:sp>
      <p:sp>
        <p:nvSpPr>
          <p:cNvPr id="9" name="Text 5"/>
          <p:cNvSpPr/>
          <p:nvPr/>
        </p:nvSpPr>
        <p:spPr>
          <a:xfrm>
            <a:off x="5829181" y="4124682"/>
            <a:ext cx="3598426" cy="942975"/>
          </a:xfrm>
          <a:prstGeom prst="rect">
            <a:avLst/>
          </a:prstGeom>
          <a:noFill/>
          <a:ln/>
        </p:spPr>
        <p:txBody>
          <a:bodyPr wrap="square" lIns="0" tIns="0" rIns="0" bIns="0" rtlCol="0" anchor="t"/>
          <a:lstStyle/>
          <a:p>
            <a:pPr algn="l" indent="0" marL="0">
              <a:lnSpc>
                <a:spcPts val="1850"/>
              </a:lnSpc>
              <a:buNone/>
            </a:pPr>
            <a:r>
              <a:rPr lang="en-US" sz="1150" dirty="0">
                <a:solidFill>
                  <a:srgbClr val="272525"/>
                </a:solidFill>
                <a:latin typeface="Inter" pitchFamily="34" charset="0"/>
                <a:ea typeface="Inter" pitchFamily="34" charset="-122"/>
                <a:cs typeface="Inter" pitchFamily="34" charset="-120"/>
              </a:rPr>
              <a:t>Influencer partnerships and user-generated content create authentic brand narratives that resonate with target audiences, building emotional connections that transcend price sensitivity</a:t>
            </a:r>
            <a:endParaRPr lang="en-US" sz="1150" dirty="0"/>
          </a:p>
        </p:txBody>
      </p:sp>
      <p:pic>
        <p:nvPicPr>
          <p:cNvPr id="1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611797" y="3681651"/>
            <a:ext cx="442198" cy="442198"/>
          </a:xfrm>
          <a:prstGeom prst="rect">
            <a:avLst/>
          </a:prstGeom>
        </p:spPr>
      </p:pic>
      <p:sp>
        <p:nvSpPr>
          <p:cNvPr id="11" name="Text 6"/>
          <p:cNvSpPr/>
          <p:nvPr/>
        </p:nvSpPr>
        <p:spPr>
          <a:xfrm>
            <a:off x="10238184" y="3805952"/>
            <a:ext cx="2602230" cy="230386"/>
          </a:xfrm>
          <a:prstGeom prst="rect">
            <a:avLst/>
          </a:prstGeom>
          <a:noFill/>
          <a:ln/>
        </p:spPr>
        <p:txBody>
          <a:bodyPr wrap="none" lIns="0" tIns="0" rIns="0" bIns="0" rtlCol="0" anchor="t"/>
          <a:lstStyle/>
          <a:p>
            <a:pPr algn="l" indent="0" marL="0">
              <a:lnSpc>
                <a:spcPts val="1800"/>
              </a:lnSpc>
              <a:buNone/>
            </a:pPr>
            <a:r>
              <a:rPr lang="en-US" sz="1450" b="1" dirty="0">
                <a:solidFill>
                  <a:srgbClr val="272525"/>
                </a:solidFill>
                <a:latin typeface="Inter Bold" pitchFamily="34" charset="0"/>
                <a:ea typeface="Inter Bold" pitchFamily="34" charset="-122"/>
                <a:cs typeface="Inter Bold" pitchFamily="34" charset="-120"/>
              </a:rPr>
              <a:t>Social Commerce Integration</a:t>
            </a:r>
            <a:endParaRPr lang="en-US" sz="1450" dirty="0"/>
          </a:p>
        </p:txBody>
      </p:sp>
      <p:sp>
        <p:nvSpPr>
          <p:cNvPr id="12" name="Text 7"/>
          <p:cNvSpPr/>
          <p:nvPr/>
        </p:nvSpPr>
        <p:spPr>
          <a:xfrm>
            <a:off x="10238184" y="4124682"/>
            <a:ext cx="3598426" cy="942975"/>
          </a:xfrm>
          <a:prstGeom prst="rect">
            <a:avLst/>
          </a:prstGeom>
          <a:noFill/>
          <a:ln/>
        </p:spPr>
        <p:txBody>
          <a:bodyPr wrap="square" lIns="0" tIns="0" rIns="0" bIns="0" rtlCol="0" anchor="t"/>
          <a:lstStyle/>
          <a:p>
            <a:pPr algn="l" indent="0" marL="0">
              <a:lnSpc>
                <a:spcPts val="1850"/>
              </a:lnSpc>
              <a:buNone/>
            </a:pPr>
            <a:r>
              <a:rPr lang="en-US" sz="1150" dirty="0">
                <a:solidFill>
                  <a:srgbClr val="272525"/>
                </a:solidFill>
                <a:latin typeface="Inter" pitchFamily="34" charset="0"/>
                <a:ea typeface="Inter" pitchFamily="34" charset="-122"/>
                <a:cs typeface="Inter" pitchFamily="34" charset="-120"/>
              </a:rPr>
              <a:t>Direct purchasing through Instagram, TikTok, and Pinterest reduces friction in the customer journey while enabling brands to capture impulse purchases at full price points</a:t>
            </a:r>
            <a:endParaRPr lang="en-US" sz="1150" dirty="0"/>
          </a:p>
        </p:txBody>
      </p:sp>
      <p:sp>
        <p:nvSpPr>
          <p:cNvPr id="13" name="Text 8"/>
          <p:cNvSpPr/>
          <p:nvPr/>
        </p:nvSpPr>
        <p:spPr>
          <a:xfrm>
            <a:off x="793790" y="5469255"/>
            <a:ext cx="13042821" cy="471488"/>
          </a:xfrm>
          <a:prstGeom prst="rect">
            <a:avLst/>
          </a:prstGeom>
          <a:noFill/>
          <a:ln/>
        </p:spPr>
        <p:txBody>
          <a:bodyPr wrap="square" lIns="0" tIns="0" rIns="0" bIns="0" rtlCol="0" anchor="t"/>
          <a:lstStyle/>
          <a:p>
            <a:pPr algn="l" indent="0" marL="0">
              <a:lnSpc>
                <a:spcPts val="1850"/>
              </a:lnSpc>
              <a:buNone/>
            </a:pPr>
            <a:r>
              <a:rPr lang="en-US" sz="1150" dirty="0">
                <a:solidFill>
                  <a:srgbClr val="272525"/>
                </a:solidFill>
                <a:latin typeface="Inter" pitchFamily="34" charset="0"/>
                <a:ea typeface="Inter" pitchFamily="34" charset="-122"/>
                <a:cs typeface="Inter" pitchFamily="34" charset="-120"/>
              </a:rPr>
              <a:t>These marketing investments significantly increase operational costs but generate returns through higher average transaction values and reduced price sensitivity among engaged consumers.</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790" y="657701"/>
            <a:ext cx="10916483" cy="460772"/>
          </a:xfrm>
          <a:prstGeom prst="rect">
            <a:avLst/>
          </a:prstGeom>
          <a:noFill/>
          <a:ln/>
        </p:spPr>
        <p:txBody>
          <a:bodyPr wrap="none" lIns="0" tIns="0" rIns="0" bIns="0" rtlCol="0" anchor="t"/>
          <a:lstStyle/>
          <a:p>
            <a:pPr algn="l" indent="0" marL="0">
              <a:lnSpc>
                <a:spcPts val="3600"/>
              </a:lnSpc>
              <a:buNone/>
            </a:pPr>
            <a:r>
              <a:rPr lang="en-US" sz="2900" b="1" dirty="0">
                <a:solidFill>
                  <a:srgbClr val="000000"/>
                </a:solidFill>
                <a:latin typeface="Inter Bold" pitchFamily="34" charset="0"/>
                <a:ea typeface="Inter Bold" pitchFamily="34" charset="-122"/>
                <a:cs typeface="Inter Bold" pitchFamily="34" charset="-120"/>
              </a:rPr>
              <a:t>Gender Comparison: Men's vs. Women's Fashion Economics</a:t>
            </a:r>
            <a:endParaRPr lang="en-US" sz="2900" dirty="0"/>
          </a:p>
        </p:txBody>
      </p:sp>
      <p:sp>
        <p:nvSpPr>
          <p:cNvPr id="3" name="Text 1"/>
          <p:cNvSpPr/>
          <p:nvPr/>
        </p:nvSpPr>
        <p:spPr>
          <a:xfrm>
            <a:off x="793790" y="1413272"/>
            <a:ext cx="13042821" cy="471488"/>
          </a:xfrm>
          <a:prstGeom prst="rect">
            <a:avLst/>
          </a:prstGeom>
          <a:noFill/>
          <a:ln/>
        </p:spPr>
        <p:txBody>
          <a:bodyPr wrap="square" lIns="0" tIns="0" rIns="0" bIns="0" rtlCol="0" anchor="t"/>
          <a:lstStyle/>
          <a:p>
            <a:pPr algn="l" indent="0" marL="0">
              <a:lnSpc>
                <a:spcPts val="1850"/>
              </a:lnSpc>
              <a:buNone/>
            </a:pPr>
            <a:r>
              <a:rPr lang="en-US" sz="1150" dirty="0">
                <a:solidFill>
                  <a:srgbClr val="272525"/>
                </a:solidFill>
                <a:latin typeface="Inter" pitchFamily="34" charset="0"/>
                <a:ea typeface="Inter" pitchFamily="34" charset="-122"/>
                <a:cs typeface="Inter" pitchFamily="34" charset="-120"/>
              </a:rPr>
              <a:t>The stark contrast between men's and women's fashion markets illuminates why pricing disparities persist. Men's fashion operates under fundamentally different economic principles that limit both variety and pricing complexity.</a:t>
            </a:r>
            <a:endParaRPr lang="en-US" sz="1150" dirty="0"/>
          </a:p>
        </p:txBody>
      </p:sp>
      <p:sp>
        <p:nvSpPr>
          <p:cNvPr id="4" name="Shape 2"/>
          <p:cNvSpPr/>
          <p:nvPr/>
        </p:nvSpPr>
        <p:spPr>
          <a:xfrm>
            <a:off x="7307580" y="2050613"/>
            <a:ext cx="15240" cy="5521166"/>
          </a:xfrm>
          <a:prstGeom prst="roundRect">
            <a:avLst>
              <a:gd name="adj" fmla="val 406325"/>
            </a:avLst>
          </a:prstGeom>
          <a:solidFill>
            <a:srgbClr val="C0C1D7"/>
          </a:solidFill>
          <a:ln/>
        </p:spPr>
      </p:sp>
      <p:sp>
        <p:nvSpPr>
          <p:cNvPr id="5" name="Shape 3"/>
          <p:cNvSpPr/>
          <p:nvPr/>
        </p:nvSpPr>
        <p:spPr>
          <a:xfrm>
            <a:off x="778550" y="2050613"/>
            <a:ext cx="6521410" cy="1336000"/>
          </a:xfrm>
          <a:prstGeom prst="roundRect">
            <a:avLst>
              <a:gd name="adj" fmla="val 4635"/>
            </a:avLst>
          </a:prstGeom>
          <a:solidFill>
            <a:srgbClr val="DADBF1"/>
          </a:solidFill>
          <a:ln w="7620">
            <a:solidFill>
              <a:srgbClr val="C0C1D7"/>
            </a:solidFill>
            <a:prstDash val="solid"/>
          </a:ln>
        </p:spPr>
      </p:sp>
      <p:sp>
        <p:nvSpPr>
          <p:cNvPr id="6" name="Text 4"/>
          <p:cNvSpPr/>
          <p:nvPr/>
        </p:nvSpPr>
        <p:spPr>
          <a:xfrm>
            <a:off x="4906328" y="2205633"/>
            <a:ext cx="2246233" cy="230386"/>
          </a:xfrm>
          <a:prstGeom prst="rect">
            <a:avLst/>
          </a:prstGeom>
          <a:noFill/>
          <a:ln/>
        </p:spPr>
        <p:txBody>
          <a:bodyPr wrap="none" lIns="0" tIns="0" rIns="0" bIns="0" rtlCol="0" anchor="t"/>
          <a:lstStyle/>
          <a:p>
            <a:pPr algn="r" indent="0" marL="0">
              <a:lnSpc>
                <a:spcPts val="1800"/>
              </a:lnSpc>
              <a:buNone/>
            </a:pPr>
            <a:r>
              <a:rPr lang="en-US" sz="1450" b="1" dirty="0">
                <a:solidFill>
                  <a:srgbClr val="272525"/>
                </a:solidFill>
                <a:latin typeface="Inter Bold" pitchFamily="34" charset="0"/>
                <a:ea typeface="Inter Bold" pitchFamily="34" charset="-122"/>
                <a:cs typeface="Inter Bold" pitchFamily="34" charset="-120"/>
              </a:rPr>
              <a:t>Lower Average Spending</a:t>
            </a:r>
            <a:endParaRPr lang="en-US" sz="1450" dirty="0"/>
          </a:p>
        </p:txBody>
      </p:sp>
      <p:sp>
        <p:nvSpPr>
          <p:cNvPr id="7" name="Text 5"/>
          <p:cNvSpPr/>
          <p:nvPr/>
        </p:nvSpPr>
        <p:spPr>
          <a:xfrm>
            <a:off x="933569" y="2524363"/>
            <a:ext cx="6218992" cy="707231"/>
          </a:xfrm>
          <a:prstGeom prst="rect">
            <a:avLst/>
          </a:prstGeom>
          <a:noFill/>
          <a:ln/>
        </p:spPr>
        <p:txBody>
          <a:bodyPr wrap="square" lIns="0" tIns="0" rIns="0" bIns="0" rtlCol="0" anchor="t"/>
          <a:lstStyle/>
          <a:p>
            <a:pPr algn="r" indent="0" marL="0">
              <a:lnSpc>
                <a:spcPts val="1850"/>
              </a:lnSpc>
              <a:buNone/>
            </a:pPr>
            <a:r>
              <a:rPr lang="en-US" sz="1150" dirty="0">
                <a:solidFill>
                  <a:srgbClr val="272525"/>
                </a:solidFill>
                <a:latin typeface="Inter" pitchFamily="34" charset="0"/>
                <a:ea typeface="Inter" pitchFamily="34" charset="-122"/>
                <a:cs typeface="Inter" pitchFamily="34" charset="-120"/>
              </a:rPr>
              <a:t>Men allocate significantly less of their discretionary income to clothing purchases, creating downward pressure on retail prices and limiting premium positioning opportunities</a:t>
            </a:r>
            <a:endParaRPr lang="en-US" sz="1150" dirty="0"/>
          </a:p>
        </p:txBody>
      </p:sp>
      <p:sp>
        <p:nvSpPr>
          <p:cNvPr id="8" name="Shape 6"/>
          <p:cNvSpPr/>
          <p:nvPr/>
        </p:nvSpPr>
        <p:spPr>
          <a:xfrm>
            <a:off x="7330440" y="3681413"/>
            <a:ext cx="6521410" cy="1100257"/>
          </a:xfrm>
          <a:prstGeom prst="rect">
            <a:avLst/>
          </a:prstGeom>
          <a:solidFill>
            <a:srgbClr val="DADBF1"/>
          </a:solidFill>
          <a:ln w="7620">
            <a:solidFill>
              <a:srgbClr val="C0C1D7"/>
            </a:solidFill>
            <a:prstDash val="solid"/>
          </a:ln>
        </p:spPr>
      </p:sp>
      <p:sp>
        <p:nvSpPr>
          <p:cNvPr id="9" name="Text 7"/>
          <p:cNvSpPr/>
          <p:nvPr/>
        </p:nvSpPr>
        <p:spPr>
          <a:xfrm>
            <a:off x="7477839" y="3836432"/>
            <a:ext cx="2155031" cy="230386"/>
          </a:xfrm>
          <a:prstGeom prst="rect">
            <a:avLst/>
          </a:prstGeom>
          <a:noFill/>
          <a:ln/>
        </p:spPr>
        <p:txBody>
          <a:bodyPr wrap="none" lIns="0" tIns="0" rIns="0" bIns="0" rtlCol="0" anchor="t"/>
          <a:lstStyle/>
          <a:p>
            <a:pPr algn="l" indent="0" marL="0">
              <a:lnSpc>
                <a:spcPts val="1800"/>
              </a:lnSpc>
              <a:buNone/>
            </a:pPr>
            <a:r>
              <a:rPr lang="en-US" sz="1450" b="1" dirty="0">
                <a:solidFill>
                  <a:srgbClr val="272525"/>
                </a:solidFill>
                <a:latin typeface="Inter Bold" pitchFamily="34" charset="0"/>
                <a:ea typeface="Inter Bold" pitchFamily="34" charset="-122"/>
                <a:cs typeface="Inter Bold" pitchFamily="34" charset="-120"/>
              </a:rPr>
              <a:t>Reduced Style Variation</a:t>
            </a:r>
            <a:endParaRPr lang="en-US" sz="1450" dirty="0"/>
          </a:p>
        </p:txBody>
      </p:sp>
      <p:sp>
        <p:nvSpPr>
          <p:cNvPr id="10" name="Text 8"/>
          <p:cNvSpPr/>
          <p:nvPr/>
        </p:nvSpPr>
        <p:spPr>
          <a:xfrm>
            <a:off x="7477839" y="4155162"/>
            <a:ext cx="6218992" cy="471488"/>
          </a:xfrm>
          <a:prstGeom prst="rect">
            <a:avLst/>
          </a:prstGeom>
          <a:noFill/>
          <a:ln/>
        </p:spPr>
        <p:txBody>
          <a:bodyPr wrap="square" lIns="0" tIns="0" rIns="0" bIns="0" rtlCol="0" anchor="t"/>
          <a:lstStyle/>
          <a:p>
            <a:pPr algn="l" indent="0" marL="0">
              <a:lnSpc>
                <a:spcPts val="1850"/>
              </a:lnSpc>
              <a:buNone/>
            </a:pPr>
            <a:r>
              <a:rPr lang="en-US" sz="1150" dirty="0">
                <a:solidFill>
                  <a:srgbClr val="272525"/>
                </a:solidFill>
                <a:latin typeface="Inter" pitchFamily="34" charset="0"/>
                <a:ea typeface="Inter" pitchFamily="34" charset="-122"/>
                <a:cs typeface="Inter" pitchFamily="34" charset="-120"/>
              </a:rPr>
              <a:t>Men's collections feature fewer silhouettes, colors, and seasonal changes, resulting in lower design costs and more efficient production processes</a:t>
            </a:r>
            <a:endParaRPr lang="en-US" sz="1150" dirty="0"/>
          </a:p>
        </p:txBody>
      </p:sp>
      <p:sp>
        <p:nvSpPr>
          <p:cNvPr id="11" name="Shape 9"/>
          <p:cNvSpPr/>
          <p:nvPr/>
        </p:nvSpPr>
        <p:spPr>
          <a:xfrm>
            <a:off x="778550" y="5076468"/>
            <a:ext cx="6521410" cy="1100257"/>
          </a:xfrm>
          <a:prstGeom prst="roundRect">
            <a:avLst>
              <a:gd name="adj" fmla="val 5628"/>
            </a:avLst>
          </a:prstGeom>
          <a:solidFill>
            <a:srgbClr val="DADBF1"/>
          </a:solidFill>
          <a:ln w="7620">
            <a:solidFill>
              <a:srgbClr val="C0C1D7"/>
            </a:solidFill>
            <a:prstDash val="solid"/>
          </a:ln>
        </p:spPr>
      </p:sp>
      <p:sp>
        <p:nvSpPr>
          <p:cNvPr id="12" name="Text 10"/>
          <p:cNvSpPr/>
          <p:nvPr/>
        </p:nvSpPr>
        <p:spPr>
          <a:xfrm>
            <a:off x="5309592" y="5231487"/>
            <a:ext cx="1842968" cy="230386"/>
          </a:xfrm>
          <a:prstGeom prst="rect">
            <a:avLst/>
          </a:prstGeom>
          <a:noFill/>
          <a:ln/>
        </p:spPr>
        <p:txBody>
          <a:bodyPr wrap="none" lIns="0" tIns="0" rIns="0" bIns="0" rtlCol="0" anchor="t"/>
          <a:lstStyle/>
          <a:p>
            <a:pPr algn="r" indent="0" marL="0">
              <a:lnSpc>
                <a:spcPts val="1800"/>
              </a:lnSpc>
              <a:buNone/>
            </a:pPr>
            <a:r>
              <a:rPr lang="en-US" sz="1450" b="1" dirty="0">
                <a:solidFill>
                  <a:srgbClr val="272525"/>
                </a:solidFill>
                <a:latin typeface="Inter Bold" pitchFamily="34" charset="0"/>
                <a:ea typeface="Inter Bold" pitchFamily="34" charset="-122"/>
                <a:cs typeface="Inter Bold" pitchFamily="34" charset="-120"/>
              </a:rPr>
              <a:t>Practical Focus</a:t>
            </a:r>
            <a:endParaRPr lang="en-US" sz="1450" dirty="0"/>
          </a:p>
        </p:txBody>
      </p:sp>
      <p:sp>
        <p:nvSpPr>
          <p:cNvPr id="13" name="Text 11"/>
          <p:cNvSpPr/>
          <p:nvPr/>
        </p:nvSpPr>
        <p:spPr>
          <a:xfrm>
            <a:off x="933569" y="5550218"/>
            <a:ext cx="6218992" cy="471488"/>
          </a:xfrm>
          <a:prstGeom prst="rect">
            <a:avLst/>
          </a:prstGeom>
          <a:noFill/>
          <a:ln/>
        </p:spPr>
        <p:txBody>
          <a:bodyPr wrap="square" lIns="0" tIns="0" rIns="0" bIns="0" rtlCol="0" anchor="t"/>
          <a:lstStyle/>
          <a:p>
            <a:pPr algn="r" indent="0" marL="0">
              <a:lnSpc>
                <a:spcPts val="1850"/>
              </a:lnSpc>
              <a:buNone/>
            </a:pPr>
            <a:r>
              <a:rPr lang="en-US" sz="1150" dirty="0">
                <a:solidFill>
                  <a:srgbClr val="272525"/>
                </a:solidFill>
                <a:latin typeface="Inter" pitchFamily="34" charset="0"/>
                <a:ea typeface="Inter" pitchFamily="34" charset="-122"/>
                <a:cs typeface="Inter" pitchFamily="34" charset="-120"/>
              </a:rPr>
              <a:t>Consumer preferences emphasize durability and functionality over fashion innovation, driving competition on price rather than design differentiation</a:t>
            </a:r>
            <a:endParaRPr lang="en-US" sz="1150" dirty="0"/>
          </a:p>
        </p:txBody>
      </p:sp>
      <p:sp>
        <p:nvSpPr>
          <p:cNvPr id="14" name="Shape 12"/>
          <p:cNvSpPr/>
          <p:nvPr/>
        </p:nvSpPr>
        <p:spPr>
          <a:xfrm>
            <a:off x="7330440" y="6471523"/>
            <a:ext cx="6521410" cy="1100257"/>
          </a:xfrm>
          <a:prstGeom prst="rect">
            <a:avLst/>
          </a:prstGeom>
          <a:solidFill>
            <a:srgbClr val="DADBF1"/>
          </a:solidFill>
          <a:ln w="7620">
            <a:solidFill>
              <a:srgbClr val="C0C1D7"/>
            </a:solidFill>
            <a:prstDash val="solid"/>
          </a:ln>
        </p:spPr>
      </p:sp>
      <p:sp>
        <p:nvSpPr>
          <p:cNvPr id="15" name="Text 13"/>
          <p:cNvSpPr/>
          <p:nvPr/>
        </p:nvSpPr>
        <p:spPr>
          <a:xfrm>
            <a:off x="7477839" y="6626543"/>
            <a:ext cx="2112169" cy="230386"/>
          </a:xfrm>
          <a:prstGeom prst="rect">
            <a:avLst/>
          </a:prstGeom>
          <a:noFill/>
          <a:ln/>
        </p:spPr>
        <p:txBody>
          <a:bodyPr wrap="none" lIns="0" tIns="0" rIns="0" bIns="0" rtlCol="0" anchor="t"/>
          <a:lstStyle/>
          <a:p>
            <a:pPr algn="l" indent="0" marL="0">
              <a:lnSpc>
                <a:spcPts val="1800"/>
              </a:lnSpc>
              <a:buNone/>
            </a:pPr>
            <a:r>
              <a:rPr lang="en-US" sz="1450" b="1" dirty="0">
                <a:solidFill>
                  <a:srgbClr val="272525"/>
                </a:solidFill>
                <a:latin typeface="Inter Bold" pitchFamily="34" charset="0"/>
                <a:ea typeface="Inter Bold" pitchFamily="34" charset="-122"/>
                <a:cs typeface="Inter Bold" pitchFamily="34" charset="-120"/>
              </a:rPr>
              <a:t>Muted Seasonal Impact</a:t>
            </a:r>
            <a:endParaRPr lang="en-US" sz="1450" dirty="0"/>
          </a:p>
        </p:txBody>
      </p:sp>
      <p:sp>
        <p:nvSpPr>
          <p:cNvPr id="16" name="Text 14"/>
          <p:cNvSpPr/>
          <p:nvPr/>
        </p:nvSpPr>
        <p:spPr>
          <a:xfrm>
            <a:off x="7477839" y="6945273"/>
            <a:ext cx="6218992" cy="471488"/>
          </a:xfrm>
          <a:prstGeom prst="rect">
            <a:avLst/>
          </a:prstGeom>
          <a:noFill/>
          <a:ln/>
        </p:spPr>
        <p:txBody>
          <a:bodyPr wrap="square" lIns="0" tIns="0" rIns="0" bIns="0" rtlCol="0" anchor="t"/>
          <a:lstStyle/>
          <a:p>
            <a:pPr algn="l" indent="0" marL="0">
              <a:lnSpc>
                <a:spcPts val="1850"/>
              </a:lnSpc>
              <a:buNone/>
            </a:pPr>
            <a:r>
              <a:rPr lang="en-US" sz="1150" dirty="0">
                <a:solidFill>
                  <a:srgbClr val="272525"/>
                </a:solidFill>
                <a:latin typeface="Inter" pitchFamily="34" charset="0"/>
                <a:ea typeface="Inter" pitchFamily="34" charset="-122"/>
                <a:cs typeface="Inter" pitchFamily="34" charset="-120"/>
              </a:rPr>
              <a:t>Men's fashion experiences less pronounced price spikes between seasons, with winter and summer items showing only 20-30% variation compared to 50% for women</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93790" y="684252"/>
            <a:ext cx="6625709" cy="460772"/>
          </a:xfrm>
          <a:prstGeom prst="rect">
            <a:avLst/>
          </a:prstGeom>
          <a:noFill/>
          <a:ln/>
        </p:spPr>
        <p:txBody>
          <a:bodyPr wrap="none" lIns="0" tIns="0" rIns="0" bIns="0" rtlCol="0" anchor="t"/>
          <a:lstStyle/>
          <a:p>
            <a:pPr algn="l" indent="0" marL="0">
              <a:lnSpc>
                <a:spcPts val="3600"/>
              </a:lnSpc>
              <a:buNone/>
            </a:pPr>
            <a:r>
              <a:rPr lang="en-US" sz="2900" b="1" dirty="0">
                <a:solidFill>
                  <a:srgbClr val="000000"/>
                </a:solidFill>
                <a:latin typeface="Inter Bold" pitchFamily="34" charset="0"/>
                <a:ea typeface="Inter Bold" pitchFamily="34" charset="-122"/>
                <a:cs typeface="Inter Bold" pitchFamily="34" charset="-120"/>
              </a:rPr>
              <a:t>Key Insights and Market Implications</a:t>
            </a:r>
            <a:endParaRPr lang="en-US" sz="2900" dirty="0"/>
          </a:p>
        </p:txBody>
      </p:sp>
      <p:sp>
        <p:nvSpPr>
          <p:cNvPr id="3" name="Text 1"/>
          <p:cNvSpPr/>
          <p:nvPr/>
        </p:nvSpPr>
        <p:spPr>
          <a:xfrm>
            <a:off x="793790" y="1439823"/>
            <a:ext cx="13042821" cy="471488"/>
          </a:xfrm>
          <a:prstGeom prst="rect">
            <a:avLst/>
          </a:prstGeom>
          <a:noFill/>
          <a:ln/>
        </p:spPr>
        <p:txBody>
          <a:bodyPr wrap="square" lIns="0" tIns="0" rIns="0" bIns="0" rtlCol="0" anchor="t"/>
          <a:lstStyle/>
          <a:p>
            <a:pPr algn="l" indent="0" marL="0">
              <a:lnSpc>
                <a:spcPts val="1850"/>
              </a:lnSpc>
              <a:buNone/>
            </a:pPr>
            <a:r>
              <a:rPr lang="en-US" sz="1150" dirty="0">
                <a:solidFill>
                  <a:srgbClr val="272525"/>
                </a:solidFill>
                <a:latin typeface="Inter" pitchFamily="34" charset="0"/>
                <a:ea typeface="Inter" pitchFamily="34" charset="-122"/>
                <a:cs typeface="Inter" pitchFamily="34" charset="-120"/>
              </a:rPr>
              <a:t>Understanding the pricing dynamics in women's fashion requires recognizing the complex interplay between economic forces, consumer behavior, and strategic business decisions. These insights shape industry practices and inform future policy discussions.</a:t>
            </a:r>
            <a:endParaRPr lang="en-US" sz="1150" dirty="0"/>
          </a:p>
        </p:txBody>
      </p:sp>
      <p:sp>
        <p:nvSpPr>
          <p:cNvPr id="4" name="Shape 2"/>
          <p:cNvSpPr/>
          <p:nvPr/>
        </p:nvSpPr>
        <p:spPr>
          <a:xfrm>
            <a:off x="793790" y="2077164"/>
            <a:ext cx="331708" cy="331708"/>
          </a:xfrm>
          <a:prstGeom prst="roundRect">
            <a:avLst>
              <a:gd name="adj" fmla="val 18668"/>
            </a:avLst>
          </a:prstGeom>
          <a:solidFill>
            <a:srgbClr val="DADBF1"/>
          </a:solidFill>
          <a:ln w="7620">
            <a:solidFill>
              <a:srgbClr val="C0C1D7"/>
            </a:solidFill>
            <a:prstDash val="solid"/>
          </a:ln>
        </p:spPr>
      </p:sp>
      <p:sp>
        <p:nvSpPr>
          <p:cNvPr id="5" name="Text 3"/>
          <p:cNvSpPr/>
          <p:nvPr/>
        </p:nvSpPr>
        <p:spPr>
          <a:xfrm>
            <a:off x="849094" y="2104846"/>
            <a:ext cx="221099" cy="276344"/>
          </a:xfrm>
          <a:prstGeom prst="rect">
            <a:avLst/>
          </a:prstGeom>
          <a:noFill/>
          <a:ln/>
        </p:spPr>
        <p:txBody>
          <a:bodyPr wrap="none" lIns="0" tIns="0" rIns="0" bIns="0" rtlCol="0" anchor="t"/>
          <a:lstStyle/>
          <a:p>
            <a:pPr algn="ctr" indent="0" marL="0">
              <a:lnSpc>
                <a:spcPts val="1700"/>
              </a:lnSpc>
              <a:buNone/>
            </a:pPr>
            <a:r>
              <a:rPr lang="en-US" sz="1700" b="1" dirty="0">
                <a:solidFill>
                  <a:srgbClr val="272525"/>
                </a:solidFill>
                <a:latin typeface="Inter Bold" pitchFamily="34" charset="0"/>
                <a:ea typeface="Inter Bold" pitchFamily="34" charset="-122"/>
                <a:cs typeface="Inter Bold" pitchFamily="34" charset="-120"/>
              </a:rPr>
              <a:t>1</a:t>
            </a:r>
            <a:endParaRPr lang="en-US" sz="1700" dirty="0"/>
          </a:p>
        </p:txBody>
      </p:sp>
      <p:sp>
        <p:nvSpPr>
          <p:cNvPr id="6" name="Text 4"/>
          <p:cNvSpPr/>
          <p:nvPr/>
        </p:nvSpPr>
        <p:spPr>
          <a:xfrm>
            <a:off x="1272897" y="2127766"/>
            <a:ext cx="3100745" cy="230386"/>
          </a:xfrm>
          <a:prstGeom prst="rect">
            <a:avLst/>
          </a:prstGeom>
          <a:noFill/>
          <a:ln/>
        </p:spPr>
        <p:txBody>
          <a:bodyPr wrap="none" lIns="0" tIns="0" rIns="0" bIns="0" rtlCol="0" anchor="t"/>
          <a:lstStyle/>
          <a:p>
            <a:pPr algn="l" indent="0" marL="0">
              <a:lnSpc>
                <a:spcPts val="1800"/>
              </a:lnSpc>
              <a:buNone/>
            </a:pPr>
            <a:r>
              <a:rPr lang="en-US" sz="1450" b="1" dirty="0">
                <a:solidFill>
                  <a:srgbClr val="272525"/>
                </a:solidFill>
                <a:latin typeface="Inter Bold" pitchFamily="34" charset="0"/>
                <a:ea typeface="Inter Bold" pitchFamily="34" charset="-122"/>
                <a:cs typeface="Inter Bold" pitchFamily="34" charset="-120"/>
              </a:rPr>
              <a:t>Market-Driven, Not Discriminatory</a:t>
            </a:r>
            <a:endParaRPr lang="en-US" sz="1450" dirty="0"/>
          </a:p>
        </p:txBody>
      </p:sp>
      <p:sp>
        <p:nvSpPr>
          <p:cNvPr id="7" name="Text 5"/>
          <p:cNvSpPr/>
          <p:nvPr/>
        </p:nvSpPr>
        <p:spPr>
          <a:xfrm>
            <a:off x="1272897" y="2446496"/>
            <a:ext cx="12563713" cy="471488"/>
          </a:xfrm>
          <a:prstGeom prst="rect">
            <a:avLst/>
          </a:prstGeom>
          <a:noFill/>
          <a:ln/>
        </p:spPr>
        <p:txBody>
          <a:bodyPr wrap="square" lIns="0" tIns="0" rIns="0" bIns="0" rtlCol="0" anchor="t"/>
          <a:lstStyle/>
          <a:p>
            <a:pPr algn="l" indent="0" marL="0">
              <a:lnSpc>
                <a:spcPts val="1850"/>
              </a:lnSpc>
              <a:buNone/>
            </a:pPr>
            <a:r>
              <a:rPr lang="en-US" sz="1150" dirty="0">
                <a:solidFill>
                  <a:srgbClr val="272525"/>
                </a:solidFill>
                <a:latin typeface="Inter" pitchFamily="34" charset="0"/>
                <a:ea typeface="Inter" pitchFamily="34" charset="-122"/>
                <a:cs typeface="Inter" pitchFamily="34" charset="-120"/>
              </a:rPr>
              <a:t>The "pink tax" emerges primarily from market dynamics—higher willingness to pay, design complexity, and differentiated consumer preferences—rather than arbitrary discrimination</a:t>
            </a:r>
            <a:endParaRPr lang="en-US" sz="1150" dirty="0"/>
          </a:p>
        </p:txBody>
      </p:sp>
      <p:sp>
        <p:nvSpPr>
          <p:cNvPr id="8" name="Shape 6"/>
          <p:cNvSpPr/>
          <p:nvPr/>
        </p:nvSpPr>
        <p:spPr>
          <a:xfrm>
            <a:off x="793790" y="3212783"/>
            <a:ext cx="331708" cy="331708"/>
          </a:xfrm>
          <a:prstGeom prst="roundRect">
            <a:avLst>
              <a:gd name="adj" fmla="val 18668"/>
            </a:avLst>
          </a:prstGeom>
          <a:solidFill>
            <a:srgbClr val="DADBF1"/>
          </a:solidFill>
          <a:ln w="7620">
            <a:solidFill>
              <a:srgbClr val="C0C1D7"/>
            </a:solidFill>
            <a:prstDash val="solid"/>
          </a:ln>
        </p:spPr>
      </p:sp>
      <p:sp>
        <p:nvSpPr>
          <p:cNvPr id="9" name="Text 7"/>
          <p:cNvSpPr/>
          <p:nvPr/>
        </p:nvSpPr>
        <p:spPr>
          <a:xfrm>
            <a:off x="849094" y="3240465"/>
            <a:ext cx="221099" cy="276344"/>
          </a:xfrm>
          <a:prstGeom prst="rect">
            <a:avLst/>
          </a:prstGeom>
          <a:noFill/>
          <a:ln/>
        </p:spPr>
        <p:txBody>
          <a:bodyPr wrap="none" lIns="0" tIns="0" rIns="0" bIns="0" rtlCol="0" anchor="t"/>
          <a:lstStyle/>
          <a:p>
            <a:pPr algn="ctr" indent="0" marL="0">
              <a:lnSpc>
                <a:spcPts val="1700"/>
              </a:lnSpc>
              <a:buNone/>
            </a:pPr>
            <a:r>
              <a:rPr lang="en-US" sz="1700" b="1" dirty="0">
                <a:solidFill>
                  <a:srgbClr val="272525"/>
                </a:solidFill>
                <a:latin typeface="Inter Bold" pitchFamily="34" charset="0"/>
                <a:ea typeface="Inter Bold" pitchFamily="34" charset="-122"/>
                <a:cs typeface="Inter Bold" pitchFamily="34" charset="-120"/>
              </a:rPr>
              <a:t>2</a:t>
            </a:r>
            <a:endParaRPr lang="en-US" sz="1700" dirty="0"/>
          </a:p>
        </p:txBody>
      </p:sp>
      <p:sp>
        <p:nvSpPr>
          <p:cNvPr id="10" name="Text 8"/>
          <p:cNvSpPr/>
          <p:nvPr/>
        </p:nvSpPr>
        <p:spPr>
          <a:xfrm>
            <a:off x="1272897" y="3263384"/>
            <a:ext cx="3187660" cy="230386"/>
          </a:xfrm>
          <a:prstGeom prst="rect">
            <a:avLst/>
          </a:prstGeom>
          <a:noFill/>
          <a:ln/>
        </p:spPr>
        <p:txBody>
          <a:bodyPr wrap="none" lIns="0" tIns="0" rIns="0" bIns="0" rtlCol="0" anchor="t"/>
          <a:lstStyle/>
          <a:p>
            <a:pPr algn="l" indent="0" marL="0">
              <a:lnSpc>
                <a:spcPts val="1800"/>
              </a:lnSpc>
              <a:buNone/>
            </a:pPr>
            <a:r>
              <a:rPr lang="en-US" sz="1450" b="1" dirty="0">
                <a:solidFill>
                  <a:srgbClr val="272525"/>
                </a:solidFill>
                <a:latin typeface="Inter Bold" pitchFamily="34" charset="0"/>
                <a:ea typeface="Inter Bold" pitchFamily="34" charset="-122"/>
                <a:cs typeface="Inter Bold" pitchFamily="34" charset="-120"/>
              </a:rPr>
              <a:t>Design Complexity Increases Costs</a:t>
            </a:r>
            <a:endParaRPr lang="en-US" sz="1450" dirty="0"/>
          </a:p>
        </p:txBody>
      </p:sp>
      <p:sp>
        <p:nvSpPr>
          <p:cNvPr id="11" name="Text 9"/>
          <p:cNvSpPr/>
          <p:nvPr/>
        </p:nvSpPr>
        <p:spPr>
          <a:xfrm>
            <a:off x="1272897" y="3582114"/>
            <a:ext cx="12563713" cy="235744"/>
          </a:xfrm>
          <a:prstGeom prst="rect">
            <a:avLst/>
          </a:prstGeom>
          <a:noFill/>
          <a:ln/>
        </p:spPr>
        <p:txBody>
          <a:bodyPr wrap="none" lIns="0" tIns="0" rIns="0" bIns="0" rtlCol="0" anchor="t"/>
          <a:lstStyle/>
          <a:p>
            <a:pPr algn="l" indent="0" marL="0">
              <a:lnSpc>
                <a:spcPts val="1850"/>
              </a:lnSpc>
              <a:buNone/>
            </a:pPr>
            <a:r>
              <a:rPr lang="en-US" sz="1150" dirty="0">
                <a:solidFill>
                  <a:srgbClr val="272525"/>
                </a:solidFill>
                <a:latin typeface="Inter" pitchFamily="34" charset="0"/>
                <a:ea typeface="Inter" pitchFamily="34" charset="-122"/>
                <a:cs typeface="Inter" pitchFamily="34" charset="-120"/>
              </a:rPr>
              <a:t>Greater variety in styles, materials, and construction techniques directly impacts production expenses, justifying higher baseline prices for women's apparel</a:t>
            </a:r>
            <a:endParaRPr lang="en-US" sz="1150" dirty="0"/>
          </a:p>
        </p:txBody>
      </p:sp>
      <p:sp>
        <p:nvSpPr>
          <p:cNvPr id="12" name="Shape 10"/>
          <p:cNvSpPr/>
          <p:nvPr/>
        </p:nvSpPr>
        <p:spPr>
          <a:xfrm>
            <a:off x="793790" y="4112657"/>
            <a:ext cx="331708" cy="331708"/>
          </a:xfrm>
          <a:prstGeom prst="roundRect">
            <a:avLst>
              <a:gd name="adj" fmla="val 18668"/>
            </a:avLst>
          </a:prstGeom>
          <a:solidFill>
            <a:srgbClr val="DADBF1"/>
          </a:solidFill>
          <a:ln w="7620">
            <a:solidFill>
              <a:srgbClr val="C0C1D7"/>
            </a:solidFill>
            <a:prstDash val="solid"/>
          </a:ln>
        </p:spPr>
      </p:sp>
      <p:sp>
        <p:nvSpPr>
          <p:cNvPr id="13" name="Text 11"/>
          <p:cNvSpPr/>
          <p:nvPr/>
        </p:nvSpPr>
        <p:spPr>
          <a:xfrm>
            <a:off x="849094" y="4140339"/>
            <a:ext cx="221099" cy="276344"/>
          </a:xfrm>
          <a:prstGeom prst="rect">
            <a:avLst/>
          </a:prstGeom>
          <a:noFill/>
          <a:ln/>
        </p:spPr>
        <p:txBody>
          <a:bodyPr wrap="none" lIns="0" tIns="0" rIns="0" bIns="0" rtlCol="0" anchor="t"/>
          <a:lstStyle/>
          <a:p>
            <a:pPr algn="ctr" indent="0" marL="0">
              <a:lnSpc>
                <a:spcPts val="1700"/>
              </a:lnSpc>
              <a:buNone/>
            </a:pPr>
            <a:r>
              <a:rPr lang="en-US" sz="1700" b="1" dirty="0">
                <a:solidFill>
                  <a:srgbClr val="272525"/>
                </a:solidFill>
                <a:latin typeface="Inter Bold" pitchFamily="34" charset="0"/>
                <a:ea typeface="Inter Bold" pitchFamily="34" charset="-122"/>
                <a:cs typeface="Inter Bold" pitchFamily="34" charset="-120"/>
              </a:rPr>
              <a:t>3</a:t>
            </a:r>
            <a:endParaRPr lang="en-US" sz="1700" dirty="0"/>
          </a:p>
        </p:txBody>
      </p:sp>
      <p:sp>
        <p:nvSpPr>
          <p:cNvPr id="14" name="Text 12"/>
          <p:cNvSpPr/>
          <p:nvPr/>
        </p:nvSpPr>
        <p:spPr>
          <a:xfrm>
            <a:off x="1272897" y="4163258"/>
            <a:ext cx="2688550" cy="230386"/>
          </a:xfrm>
          <a:prstGeom prst="rect">
            <a:avLst/>
          </a:prstGeom>
          <a:noFill/>
          <a:ln/>
        </p:spPr>
        <p:txBody>
          <a:bodyPr wrap="none" lIns="0" tIns="0" rIns="0" bIns="0" rtlCol="0" anchor="t"/>
          <a:lstStyle/>
          <a:p>
            <a:pPr algn="l" indent="0" marL="0">
              <a:lnSpc>
                <a:spcPts val="1800"/>
              </a:lnSpc>
              <a:buNone/>
            </a:pPr>
            <a:r>
              <a:rPr lang="en-US" sz="1450" b="1" dirty="0">
                <a:solidFill>
                  <a:srgbClr val="272525"/>
                </a:solidFill>
                <a:latin typeface="Inter Bold" pitchFamily="34" charset="0"/>
                <a:ea typeface="Inter Bold" pitchFamily="34" charset="-122"/>
                <a:cs typeface="Inter Bold" pitchFamily="34" charset="-120"/>
              </a:rPr>
              <a:t>Marketing Justifies Premiums</a:t>
            </a:r>
            <a:endParaRPr lang="en-US" sz="1450" dirty="0"/>
          </a:p>
        </p:txBody>
      </p:sp>
      <p:sp>
        <p:nvSpPr>
          <p:cNvPr id="15" name="Text 13"/>
          <p:cNvSpPr/>
          <p:nvPr/>
        </p:nvSpPr>
        <p:spPr>
          <a:xfrm>
            <a:off x="1272897" y="4481989"/>
            <a:ext cx="12563713" cy="235744"/>
          </a:xfrm>
          <a:prstGeom prst="rect">
            <a:avLst/>
          </a:prstGeom>
          <a:noFill/>
          <a:ln/>
        </p:spPr>
        <p:txBody>
          <a:bodyPr wrap="none" lIns="0" tIns="0" rIns="0" bIns="0" rtlCol="0" anchor="t"/>
          <a:lstStyle/>
          <a:p>
            <a:pPr algn="l" indent="0" marL="0">
              <a:lnSpc>
                <a:spcPts val="1850"/>
              </a:lnSpc>
              <a:buNone/>
            </a:pPr>
            <a:r>
              <a:rPr lang="en-US" sz="1150" dirty="0">
                <a:solidFill>
                  <a:srgbClr val="272525"/>
                </a:solidFill>
                <a:latin typeface="Inter" pitchFamily="34" charset="0"/>
                <a:ea typeface="Inter" pitchFamily="34" charset="-122"/>
                <a:cs typeface="Inter" pitchFamily="34" charset="-120"/>
              </a:rPr>
              <a:t>Strategic branding and positioning campaigns create perceived value that supports luxury pricing, with marketing investments representing significant operational costs</a:t>
            </a:r>
            <a:endParaRPr lang="en-US" sz="1150" dirty="0"/>
          </a:p>
        </p:txBody>
      </p:sp>
      <p:sp>
        <p:nvSpPr>
          <p:cNvPr id="16" name="Shape 14"/>
          <p:cNvSpPr/>
          <p:nvPr/>
        </p:nvSpPr>
        <p:spPr>
          <a:xfrm>
            <a:off x="793790" y="5012531"/>
            <a:ext cx="331708" cy="331708"/>
          </a:xfrm>
          <a:prstGeom prst="roundRect">
            <a:avLst>
              <a:gd name="adj" fmla="val 18668"/>
            </a:avLst>
          </a:prstGeom>
          <a:solidFill>
            <a:srgbClr val="DADBF1"/>
          </a:solidFill>
          <a:ln w="7620">
            <a:solidFill>
              <a:srgbClr val="C0C1D7"/>
            </a:solidFill>
            <a:prstDash val="solid"/>
          </a:ln>
        </p:spPr>
      </p:sp>
      <p:sp>
        <p:nvSpPr>
          <p:cNvPr id="17" name="Text 15"/>
          <p:cNvSpPr/>
          <p:nvPr/>
        </p:nvSpPr>
        <p:spPr>
          <a:xfrm>
            <a:off x="849094" y="5040213"/>
            <a:ext cx="221099" cy="276344"/>
          </a:xfrm>
          <a:prstGeom prst="rect">
            <a:avLst/>
          </a:prstGeom>
          <a:noFill/>
          <a:ln/>
        </p:spPr>
        <p:txBody>
          <a:bodyPr wrap="none" lIns="0" tIns="0" rIns="0" bIns="0" rtlCol="0" anchor="t"/>
          <a:lstStyle/>
          <a:p>
            <a:pPr algn="ctr" indent="0" marL="0">
              <a:lnSpc>
                <a:spcPts val="1700"/>
              </a:lnSpc>
              <a:buNone/>
            </a:pPr>
            <a:r>
              <a:rPr lang="en-US" sz="1700" b="1" dirty="0">
                <a:solidFill>
                  <a:srgbClr val="272525"/>
                </a:solidFill>
                <a:latin typeface="Inter Bold" pitchFamily="34" charset="0"/>
                <a:ea typeface="Inter Bold" pitchFamily="34" charset="-122"/>
                <a:cs typeface="Inter Bold" pitchFamily="34" charset="-120"/>
              </a:rPr>
              <a:t>4</a:t>
            </a:r>
            <a:endParaRPr lang="en-US" sz="1700" dirty="0"/>
          </a:p>
        </p:txBody>
      </p:sp>
      <p:sp>
        <p:nvSpPr>
          <p:cNvPr id="18" name="Text 16"/>
          <p:cNvSpPr/>
          <p:nvPr/>
        </p:nvSpPr>
        <p:spPr>
          <a:xfrm>
            <a:off x="1272897" y="5063133"/>
            <a:ext cx="2816662" cy="230386"/>
          </a:xfrm>
          <a:prstGeom prst="rect">
            <a:avLst/>
          </a:prstGeom>
          <a:noFill/>
          <a:ln/>
        </p:spPr>
        <p:txBody>
          <a:bodyPr wrap="none" lIns="0" tIns="0" rIns="0" bIns="0" rtlCol="0" anchor="t"/>
          <a:lstStyle/>
          <a:p>
            <a:pPr algn="l" indent="0" marL="0">
              <a:lnSpc>
                <a:spcPts val="1800"/>
              </a:lnSpc>
              <a:buNone/>
            </a:pPr>
            <a:r>
              <a:rPr lang="en-US" sz="1450" b="1" dirty="0">
                <a:solidFill>
                  <a:srgbClr val="272525"/>
                </a:solidFill>
                <a:latin typeface="Inter Bold" pitchFamily="34" charset="0"/>
                <a:ea typeface="Inter Bold" pitchFamily="34" charset="-122"/>
                <a:cs typeface="Inter Bold" pitchFamily="34" charset="-120"/>
              </a:rPr>
              <a:t>Seasonality Amplifies Variation</a:t>
            </a:r>
            <a:endParaRPr lang="en-US" sz="1450" dirty="0"/>
          </a:p>
        </p:txBody>
      </p:sp>
      <p:sp>
        <p:nvSpPr>
          <p:cNvPr id="19" name="Text 17"/>
          <p:cNvSpPr/>
          <p:nvPr/>
        </p:nvSpPr>
        <p:spPr>
          <a:xfrm>
            <a:off x="1272897" y="5381863"/>
            <a:ext cx="12563713" cy="235744"/>
          </a:xfrm>
          <a:prstGeom prst="rect">
            <a:avLst/>
          </a:prstGeom>
          <a:noFill/>
          <a:ln/>
        </p:spPr>
        <p:txBody>
          <a:bodyPr wrap="none" lIns="0" tIns="0" rIns="0" bIns="0" rtlCol="0" anchor="t"/>
          <a:lstStyle/>
          <a:p>
            <a:pPr algn="l" indent="0" marL="0">
              <a:lnSpc>
                <a:spcPts val="1850"/>
              </a:lnSpc>
              <a:buNone/>
            </a:pPr>
            <a:r>
              <a:rPr lang="en-US" sz="1150" dirty="0">
                <a:solidFill>
                  <a:srgbClr val="272525"/>
                </a:solidFill>
                <a:latin typeface="Inter" pitchFamily="34" charset="0"/>
                <a:ea typeface="Inter" pitchFamily="34" charset="-122"/>
                <a:cs typeface="Inter" pitchFamily="34" charset="-120"/>
              </a:rPr>
              <a:t>Winter collections command 50% price premiums over summer items due to material costs and holiday shopping dynamics</a:t>
            </a:r>
            <a:endParaRPr lang="en-US" sz="1150" dirty="0"/>
          </a:p>
        </p:txBody>
      </p:sp>
      <p:sp>
        <p:nvSpPr>
          <p:cNvPr id="20" name="Shape 18"/>
          <p:cNvSpPr/>
          <p:nvPr/>
        </p:nvSpPr>
        <p:spPr>
          <a:xfrm>
            <a:off x="793790" y="5912406"/>
            <a:ext cx="331708" cy="331708"/>
          </a:xfrm>
          <a:prstGeom prst="roundRect">
            <a:avLst>
              <a:gd name="adj" fmla="val 18668"/>
            </a:avLst>
          </a:prstGeom>
          <a:solidFill>
            <a:srgbClr val="DADBF1"/>
          </a:solidFill>
          <a:ln w="7620">
            <a:solidFill>
              <a:srgbClr val="C0C1D7"/>
            </a:solidFill>
            <a:prstDash val="solid"/>
          </a:ln>
        </p:spPr>
      </p:sp>
      <p:sp>
        <p:nvSpPr>
          <p:cNvPr id="21" name="Text 19"/>
          <p:cNvSpPr/>
          <p:nvPr/>
        </p:nvSpPr>
        <p:spPr>
          <a:xfrm>
            <a:off x="849094" y="5940088"/>
            <a:ext cx="221099" cy="276344"/>
          </a:xfrm>
          <a:prstGeom prst="rect">
            <a:avLst/>
          </a:prstGeom>
          <a:noFill/>
          <a:ln/>
        </p:spPr>
        <p:txBody>
          <a:bodyPr wrap="none" lIns="0" tIns="0" rIns="0" bIns="0" rtlCol="0" anchor="t"/>
          <a:lstStyle/>
          <a:p>
            <a:pPr algn="ctr" indent="0" marL="0">
              <a:lnSpc>
                <a:spcPts val="1700"/>
              </a:lnSpc>
              <a:buNone/>
            </a:pPr>
            <a:r>
              <a:rPr lang="en-US" sz="1700" b="1" dirty="0">
                <a:solidFill>
                  <a:srgbClr val="272525"/>
                </a:solidFill>
                <a:latin typeface="Inter Bold" pitchFamily="34" charset="0"/>
                <a:ea typeface="Inter Bold" pitchFamily="34" charset="-122"/>
                <a:cs typeface="Inter Bold" pitchFamily="34" charset="-120"/>
              </a:rPr>
              <a:t>5</a:t>
            </a:r>
            <a:endParaRPr lang="en-US" sz="1700" dirty="0"/>
          </a:p>
        </p:txBody>
      </p:sp>
      <p:sp>
        <p:nvSpPr>
          <p:cNvPr id="22" name="Text 20"/>
          <p:cNvSpPr/>
          <p:nvPr/>
        </p:nvSpPr>
        <p:spPr>
          <a:xfrm>
            <a:off x="1272897" y="5963007"/>
            <a:ext cx="2391608" cy="230386"/>
          </a:xfrm>
          <a:prstGeom prst="rect">
            <a:avLst/>
          </a:prstGeom>
          <a:noFill/>
          <a:ln/>
        </p:spPr>
        <p:txBody>
          <a:bodyPr wrap="none" lIns="0" tIns="0" rIns="0" bIns="0" rtlCol="0" anchor="t"/>
          <a:lstStyle/>
          <a:p>
            <a:pPr algn="l" indent="0" marL="0">
              <a:lnSpc>
                <a:spcPts val="1800"/>
              </a:lnSpc>
              <a:buNone/>
            </a:pPr>
            <a:r>
              <a:rPr lang="en-US" sz="1450" b="1" dirty="0">
                <a:solidFill>
                  <a:srgbClr val="272525"/>
                </a:solidFill>
                <a:latin typeface="Inter Bold" pitchFamily="34" charset="0"/>
                <a:ea typeface="Inter Bold" pitchFamily="34" charset="-122"/>
                <a:cs typeface="Inter Bold" pitchFamily="34" charset="-120"/>
              </a:rPr>
              <a:t>Awareness Without Action</a:t>
            </a:r>
            <a:endParaRPr lang="en-US" sz="1450" dirty="0"/>
          </a:p>
        </p:txBody>
      </p:sp>
      <p:sp>
        <p:nvSpPr>
          <p:cNvPr id="23" name="Text 21"/>
          <p:cNvSpPr/>
          <p:nvPr/>
        </p:nvSpPr>
        <p:spPr>
          <a:xfrm>
            <a:off x="1272897" y="6281738"/>
            <a:ext cx="12563713" cy="235744"/>
          </a:xfrm>
          <a:prstGeom prst="rect">
            <a:avLst/>
          </a:prstGeom>
          <a:noFill/>
          <a:ln/>
        </p:spPr>
        <p:txBody>
          <a:bodyPr wrap="none" lIns="0" tIns="0" rIns="0" bIns="0" rtlCol="0" anchor="t"/>
          <a:lstStyle/>
          <a:p>
            <a:pPr algn="l" indent="0" marL="0">
              <a:lnSpc>
                <a:spcPts val="1850"/>
              </a:lnSpc>
              <a:buNone/>
            </a:pPr>
            <a:r>
              <a:rPr lang="en-US" sz="1150" dirty="0">
                <a:solidFill>
                  <a:srgbClr val="272525"/>
                </a:solidFill>
                <a:latin typeface="Inter" pitchFamily="34" charset="0"/>
                <a:ea typeface="Inter" pitchFamily="34" charset="-122"/>
                <a:cs typeface="Inter" pitchFamily="34" charset="-120"/>
              </a:rPr>
              <a:t>While consumer awareness of pricing disparities grows, industry practices remain largely unchanged as fashion value continues to outweigh fairness concerns for most shoppers</a:t>
            </a:r>
            <a:endParaRPr lang="en-US" sz="1150" dirty="0"/>
          </a:p>
        </p:txBody>
      </p:sp>
      <p:sp>
        <p:nvSpPr>
          <p:cNvPr id="24" name="Shape 22"/>
          <p:cNvSpPr/>
          <p:nvPr/>
        </p:nvSpPr>
        <p:spPr>
          <a:xfrm>
            <a:off x="793790" y="6683335"/>
            <a:ext cx="13042821" cy="862013"/>
          </a:xfrm>
          <a:prstGeom prst="roundRect">
            <a:avLst>
              <a:gd name="adj" fmla="val 7184"/>
            </a:avLst>
          </a:prstGeom>
          <a:solidFill>
            <a:srgbClr val="C7C9EA"/>
          </a:solidFill>
          <a:ln/>
        </p:spPr>
      </p:sp>
      <p:pic>
        <p:nvPicPr>
          <p:cNvPr id="25" name="Image 0" descr="preencoded.png">    </p:cNvPr>
          <p:cNvPicPr>
            <a:picLocks noChangeAspect="1"/>
          </p:cNvPicPr>
          <p:nvPr/>
        </p:nvPicPr>
        <p:blipFill>
          <a:blip r:embed="rId1"/>
          <a:stretch>
            <a:fillRect/>
          </a:stretch>
        </p:blipFill>
        <p:spPr>
          <a:xfrm>
            <a:off x="941189" y="6906101"/>
            <a:ext cx="184190" cy="147399"/>
          </a:xfrm>
          <a:prstGeom prst="rect">
            <a:avLst/>
          </a:prstGeom>
        </p:spPr>
      </p:pic>
      <p:sp>
        <p:nvSpPr>
          <p:cNvPr id="26" name="Text 23"/>
          <p:cNvSpPr/>
          <p:nvPr/>
        </p:nvSpPr>
        <p:spPr>
          <a:xfrm>
            <a:off x="1272778" y="6867525"/>
            <a:ext cx="12416433" cy="471488"/>
          </a:xfrm>
          <a:prstGeom prst="rect">
            <a:avLst/>
          </a:prstGeom>
          <a:noFill/>
          <a:ln/>
        </p:spPr>
        <p:txBody>
          <a:bodyPr wrap="square" lIns="0" tIns="0" rIns="0" bIns="0" rtlCol="0" anchor="t"/>
          <a:lstStyle/>
          <a:p>
            <a:pPr algn="l" indent="0" marL="0">
              <a:lnSpc>
                <a:spcPts val="1850"/>
              </a:lnSpc>
              <a:buNone/>
            </a:pPr>
            <a:r>
              <a:rPr lang="en-US" sz="1150" b="1" dirty="0">
                <a:solidFill>
                  <a:srgbClr val="000000"/>
                </a:solidFill>
                <a:latin typeface="Inter" pitchFamily="34" charset="0"/>
                <a:ea typeface="Inter" pitchFamily="34" charset="-122"/>
                <a:cs typeface="Inter" pitchFamily="34" charset="-120"/>
              </a:rPr>
              <a:t>Sources:</a:t>
            </a:r>
            <a:pPr algn="l" indent="0" marL="0">
              <a:lnSpc>
                <a:spcPts val="1850"/>
              </a:lnSpc>
              <a:buNone/>
            </a:pPr>
            <a:r>
              <a:rPr lang="en-US" sz="1150" dirty="0">
                <a:solidFill>
                  <a:srgbClr val="000000"/>
                </a:solidFill>
                <a:latin typeface="Inter" pitchFamily="34" charset="0"/>
                <a:ea typeface="Inter" pitchFamily="34" charset="-122"/>
                <a:cs typeface="Inter" pitchFamily="34" charset="-120"/>
              </a:rPr>
              <a:t> Economic Forces, U.S. Government Accountability Office, McKinsey State of Fashion 2025, BlackCurve Pricing Research, Seth Society, JOOR Market Analysis, Bureau of Labor Statistics, University of Mannheim Consumer Research</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2025-12-26T10:01:18Z</dcterms:created>
  <dcterms:modified xsi:type="dcterms:W3CDTF">2025-12-26T10:01:18Z</dcterms:modified>
</cp:coreProperties>
</file>